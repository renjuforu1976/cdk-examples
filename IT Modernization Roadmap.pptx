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3B82F6"/>
          </a:solidFill>
          <a:ln/>
        </p:spPr>
      </p:sp>
      <p:sp>
        <p:nvSpPr>
          <p:cNvPr id="3" name="Shape 1"/>
          <p:cNvSpPr/>
          <p:nvPr/>
        </p:nvSpPr>
        <p:spPr>
          <a:xfrm>
            <a:off x="137160" y="0"/>
            <a:ext cx="9006840" cy="54864"/>
          </a:xfrm>
          <a:prstGeom prst="rect">
            <a:avLst/>
          </a:prstGeom>
          <a:solidFill>
            <a:srgbClr val="0D9488"/>
          </a:solidFill>
          <a:ln/>
        </p:spPr>
      </p:sp>
      <p:sp>
        <p:nvSpPr>
          <p:cNvPr id="4" name="Shape 2"/>
          <p:cNvSpPr/>
          <p:nvPr/>
        </p:nvSpPr>
        <p:spPr>
          <a:xfrm>
            <a:off x="457200" y="731520"/>
            <a:ext cx="2560320" cy="310896"/>
          </a:xfrm>
          <a:prstGeom prst="roundRect">
            <a:avLst>
              <a:gd name="adj" fmla="val 17647"/>
            </a:avLst>
          </a:prstGeom>
          <a:solidFill>
            <a:srgbClr val="3B82F6"/>
          </a:solidFill>
          <a:ln/>
        </p:spPr>
      </p:sp>
      <p:sp>
        <p:nvSpPr>
          <p:cNvPr id="5" name="Text 3"/>
          <p:cNvSpPr/>
          <p:nvPr/>
        </p:nvSpPr>
        <p:spPr>
          <a:xfrm>
            <a:off x="457200" y="731520"/>
            <a:ext cx="2560320"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Enterprise IT Modernization Initiative</a:t>
            </a:r>
            <a:endParaRPr lang="en-US" sz="900" dirty="0"/>
          </a:p>
        </p:txBody>
      </p:sp>
      <p:sp>
        <p:nvSpPr>
          <p:cNvPr id="6" name="Text 4"/>
          <p:cNvSpPr/>
          <p:nvPr/>
        </p:nvSpPr>
        <p:spPr>
          <a:xfrm>
            <a:off x="457200" y="1188720"/>
            <a:ext cx="8229600" cy="1371600"/>
          </a:xfrm>
          <a:prstGeom prst="rect">
            <a:avLst/>
          </a:prstGeom>
          <a:noFill/>
          <a:ln/>
        </p:spPr>
        <p:txBody>
          <a:bodyPr wrap="square" rtlCol="0" anchor="ctr"/>
          <a:lstStyle/>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Top Down Service</a:t>
            </a:r>
            <a:endParaRPr lang="en-US" sz="3800" dirty="0"/>
          </a:p>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Prioritization Roadmap</a:t>
            </a:r>
            <a:endParaRPr lang="en-US" sz="3800" dirty="0"/>
          </a:p>
        </p:txBody>
      </p:sp>
      <p:sp>
        <p:nvSpPr>
          <p:cNvPr id="7" name="Text 5"/>
          <p:cNvSpPr/>
          <p:nvPr/>
        </p:nvSpPr>
        <p:spPr>
          <a:xfrm>
            <a:off x="457200" y="2606040"/>
            <a:ext cx="8229600" cy="347472"/>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Enterprise IT Modernization Roadmap  |  2025 – 2026</a:t>
            </a:r>
            <a:endParaRPr lang="en-US" sz="1400" dirty="0"/>
          </a:p>
        </p:txBody>
      </p:sp>
      <p:sp>
        <p:nvSpPr>
          <p:cNvPr id="8" name="Shape 6"/>
          <p:cNvSpPr/>
          <p:nvPr/>
        </p:nvSpPr>
        <p:spPr>
          <a:xfrm>
            <a:off x="457200" y="3063240"/>
            <a:ext cx="4572000" cy="36576"/>
          </a:xfrm>
          <a:prstGeom prst="rect">
            <a:avLst/>
          </a:prstGeom>
          <a:solidFill>
            <a:srgbClr val="0D9488"/>
          </a:solidFill>
          <a:ln/>
        </p:spPr>
      </p:sp>
      <p:sp>
        <p:nvSpPr>
          <p:cNvPr id="9" name="Text 7"/>
          <p:cNvSpPr/>
          <p:nvPr/>
        </p:nvSpPr>
        <p:spPr>
          <a:xfrm>
            <a:off x="457200" y="3200400"/>
            <a:ext cx="8229600" cy="347472"/>
          </a:xfrm>
          <a:prstGeom prst="rect">
            <a:avLst/>
          </a:prstGeom>
          <a:noFill/>
          <a:ln/>
        </p:spPr>
        <p:txBody>
          <a:bodyPr wrap="square" rtlCol="0" anchor="ctr"/>
          <a:lstStyle/>
          <a:p>
            <a:pPr indent="0" marL="0">
              <a:buNone/>
            </a:pPr>
            <a:r>
              <a:rPr lang="en-US" sz="1500" i="1" dirty="0">
                <a:solidFill>
                  <a:srgbClr val="3B82F6"/>
                </a:solidFill>
                <a:latin typeface="Calibri" pitchFamily="34" charset="0"/>
                <a:ea typeface="Calibri" pitchFamily="34" charset="-122"/>
                <a:cs typeface="Calibri" pitchFamily="34" charset="-120"/>
              </a:rPr>
              <a:t>Delivering high-reliability microservices across all business domains</a:t>
            </a:r>
            <a:endParaRPr lang="en-US" sz="1500" dirty="0"/>
          </a:p>
        </p:txBody>
      </p:sp>
      <p:sp>
        <p:nvSpPr>
          <p:cNvPr id="10" name="Shape 8"/>
          <p:cNvSpPr/>
          <p:nvPr/>
        </p:nvSpPr>
        <p:spPr>
          <a:xfrm>
            <a:off x="457200" y="3749040"/>
            <a:ext cx="2606040" cy="1005840"/>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11" name="Shape 9"/>
          <p:cNvSpPr/>
          <p:nvPr/>
        </p:nvSpPr>
        <p:spPr>
          <a:xfrm>
            <a:off x="457200" y="3749040"/>
            <a:ext cx="2606040" cy="45720"/>
          </a:xfrm>
          <a:prstGeom prst="rect">
            <a:avLst/>
          </a:prstGeom>
          <a:solidFill>
            <a:srgbClr val="3B82F6"/>
          </a:solidFill>
          <a:ln/>
        </p:spPr>
      </p:sp>
      <p:sp>
        <p:nvSpPr>
          <p:cNvPr id="12" name="Text 10"/>
          <p:cNvSpPr/>
          <p:nvPr/>
        </p:nvSpPr>
        <p:spPr>
          <a:xfrm>
            <a:off x="457200" y="3794760"/>
            <a:ext cx="2606040" cy="475488"/>
          </a:xfrm>
          <a:prstGeom prst="rect">
            <a:avLst/>
          </a:prstGeom>
          <a:noFill/>
          <a:ln/>
        </p:spPr>
        <p:txBody>
          <a:bodyPr wrap="square" rtlCol="0" anchor="ctr"/>
          <a:lstStyle/>
          <a:p>
            <a:pPr algn="ctr" indent="0" marL="0">
              <a:buNone/>
            </a:pPr>
            <a:r>
              <a:rPr lang="en-US" sz="3000" b="1" dirty="0">
                <a:solidFill>
                  <a:srgbClr val="3B82F6"/>
                </a:solidFill>
                <a:latin typeface="Calibri" pitchFamily="34" charset="0"/>
                <a:ea typeface="Calibri" pitchFamily="34" charset="-122"/>
                <a:cs typeface="Calibri" pitchFamily="34" charset="-120"/>
              </a:rPr>
              <a:t>20</a:t>
            </a:r>
            <a:endParaRPr lang="en-US" sz="3000" dirty="0"/>
          </a:p>
        </p:txBody>
      </p:sp>
      <p:sp>
        <p:nvSpPr>
          <p:cNvPr id="13" name="Text 11"/>
          <p:cNvSpPr/>
          <p:nvPr/>
        </p:nvSpPr>
        <p:spPr>
          <a:xfrm>
            <a:off x="457200" y="4270248"/>
            <a:ext cx="260604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 Services</a:t>
            </a:r>
            <a:endParaRPr lang="en-US" sz="1100" dirty="0"/>
          </a:p>
        </p:txBody>
      </p:sp>
      <p:sp>
        <p:nvSpPr>
          <p:cNvPr id="14" name="Text 12"/>
          <p:cNvSpPr/>
          <p:nvPr/>
        </p:nvSpPr>
        <p:spPr>
          <a:xfrm>
            <a:off x="457200" y="4526280"/>
            <a:ext cx="2606040" cy="1828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Across all domains</a:t>
            </a:r>
            <a:endParaRPr lang="en-US" sz="900" dirty="0"/>
          </a:p>
        </p:txBody>
      </p:sp>
      <p:sp>
        <p:nvSpPr>
          <p:cNvPr id="15" name="Shape 13"/>
          <p:cNvSpPr/>
          <p:nvPr/>
        </p:nvSpPr>
        <p:spPr>
          <a:xfrm>
            <a:off x="3291840" y="3749040"/>
            <a:ext cx="2606040" cy="1005840"/>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16" name="Shape 14"/>
          <p:cNvSpPr/>
          <p:nvPr/>
        </p:nvSpPr>
        <p:spPr>
          <a:xfrm>
            <a:off x="3291840" y="3749040"/>
            <a:ext cx="2606040" cy="45720"/>
          </a:xfrm>
          <a:prstGeom prst="rect">
            <a:avLst/>
          </a:prstGeom>
          <a:solidFill>
            <a:srgbClr val="3B82F6"/>
          </a:solidFill>
          <a:ln/>
        </p:spPr>
      </p:sp>
      <p:sp>
        <p:nvSpPr>
          <p:cNvPr id="17" name="Text 15"/>
          <p:cNvSpPr/>
          <p:nvPr/>
        </p:nvSpPr>
        <p:spPr>
          <a:xfrm>
            <a:off x="3291840" y="3794760"/>
            <a:ext cx="2606040" cy="475488"/>
          </a:xfrm>
          <a:prstGeom prst="rect">
            <a:avLst/>
          </a:prstGeom>
          <a:noFill/>
          <a:ln/>
        </p:spPr>
        <p:txBody>
          <a:bodyPr wrap="square" rtlCol="0" anchor="ctr"/>
          <a:lstStyle/>
          <a:p>
            <a:pPr algn="ctr" indent="0" marL="0">
              <a:buNone/>
            </a:pPr>
            <a:r>
              <a:rPr lang="en-US" sz="3000" b="1" dirty="0">
                <a:solidFill>
                  <a:srgbClr val="3B82F6"/>
                </a:solidFill>
                <a:latin typeface="Calibri" pitchFamily="34" charset="0"/>
                <a:ea typeface="Calibri" pitchFamily="34" charset="-122"/>
                <a:cs typeface="Calibri" pitchFamily="34" charset="-120"/>
              </a:rPr>
              <a:t>4</a:t>
            </a:r>
            <a:endParaRPr lang="en-US" sz="3000" dirty="0"/>
          </a:p>
        </p:txBody>
      </p:sp>
      <p:sp>
        <p:nvSpPr>
          <p:cNvPr id="18" name="Text 16"/>
          <p:cNvSpPr/>
          <p:nvPr/>
        </p:nvSpPr>
        <p:spPr>
          <a:xfrm>
            <a:off x="3291840" y="4270248"/>
            <a:ext cx="260604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Delivery Phases</a:t>
            </a:r>
            <a:endParaRPr lang="en-US" sz="1100" dirty="0"/>
          </a:p>
        </p:txBody>
      </p:sp>
      <p:sp>
        <p:nvSpPr>
          <p:cNvPr id="19" name="Text 17"/>
          <p:cNvSpPr/>
          <p:nvPr/>
        </p:nvSpPr>
        <p:spPr>
          <a:xfrm>
            <a:off x="3291840" y="4526280"/>
            <a:ext cx="2606040" cy="1828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2025 – Q4 2026</a:t>
            </a:r>
            <a:endParaRPr lang="en-US" sz="900" dirty="0"/>
          </a:p>
        </p:txBody>
      </p:sp>
      <p:sp>
        <p:nvSpPr>
          <p:cNvPr id="20" name="Shape 18"/>
          <p:cNvSpPr/>
          <p:nvPr/>
        </p:nvSpPr>
        <p:spPr>
          <a:xfrm>
            <a:off x="6126480" y="3749040"/>
            <a:ext cx="2606040" cy="1005840"/>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21" name="Shape 19"/>
          <p:cNvSpPr/>
          <p:nvPr/>
        </p:nvSpPr>
        <p:spPr>
          <a:xfrm>
            <a:off x="6126480" y="3749040"/>
            <a:ext cx="2606040" cy="45720"/>
          </a:xfrm>
          <a:prstGeom prst="rect">
            <a:avLst/>
          </a:prstGeom>
          <a:solidFill>
            <a:srgbClr val="3B82F6"/>
          </a:solidFill>
          <a:ln/>
        </p:spPr>
      </p:sp>
      <p:sp>
        <p:nvSpPr>
          <p:cNvPr id="22" name="Text 20"/>
          <p:cNvSpPr/>
          <p:nvPr/>
        </p:nvSpPr>
        <p:spPr>
          <a:xfrm>
            <a:off x="6126480" y="3794760"/>
            <a:ext cx="2606040" cy="475488"/>
          </a:xfrm>
          <a:prstGeom prst="rect">
            <a:avLst/>
          </a:prstGeom>
          <a:noFill/>
          <a:ln/>
        </p:spPr>
        <p:txBody>
          <a:bodyPr wrap="square" rtlCol="0" anchor="ctr"/>
          <a:lstStyle/>
          <a:p>
            <a:pPr algn="ctr" indent="0" marL="0">
              <a:buNone/>
            </a:pPr>
            <a:r>
              <a:rPr lang="en-US" sz="3000" b="1" dirty="0">
                <a:solidFill>
                  <a:srgbClr val="3B82F6"/>
                </a:solidFill>
                <a:latin typeface="Calibri" pitchFamily="34" charset="0"/>
                <a:ea typeface="Calibri" pitchFamily="34" charset="-122"/>
                <a:cs typeface="Calibri" pitchFamily="34" charset="-120"/>
              </a:rPr>
              <a:t>4</a:t>
            </a:r>
            <a:endParaRPr lang="en-US" sz="3000" dirty="0"/>
          </a:p>
        </p:txBody>
      </p:sp>
      <p:sp>
        <p:nvSpPr>
          <p:cNvPr id="23" name="Text 21"/>
          <p:cNvSpPr/>
          <p:nvPr/>
        </p:nvSpPr>
        <p:spPr>
          <a:xfrm>
            <a:off x="6126480" y="4270248"/>
            <a:ext cx="260604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Domains</a:t>
            </a:r>
            <a:endParaRPr lang="en-US" sz="1100" dirty="0"/>
          </a:p>
        </p:txBody>
      </p:sp>
      <p:sp>
        <p:nvSpPr>
          <p:cNvPr id="24" name="Text 22"/>
          <p:cNvSpPr/>
          <p:nvPr/>
        </p:nvSpPr>
        <p:spPr>
          <a:xfrm>
            <a:off x="6126480" y="4526280"/>
            <a:ext cx="2606040" cy="1828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Loan, Payment, Fin, Comp</a:t>
            </a:r>
            <a:endParaRPr lang="en-US" sz="900" dirty="0"/>
          </a:p>
        </p:txBody>
      </p:sp>
      <p:sp>
        <p:nvSpPr>
          <p:cNvPr id="25" name="Shape 23"/>
          <p:cNvSpPr/>
          <p:nvPr/>
        </p:nvSpPr>
        <p:spPr>
          <a:xfrm>
            <a:off x="0" y="4956048"/>
            <a:ext cx="9144000" cy="201168"/>
          </a:xfrm>
          <a:prstGeom prst="rect">
            <a:avLst/>
          </a:prstGeom>
          <a:solidFill>
            <a:srgbClr val="152848"/>
          </a:solidFill>
          <a:ln/>
        </p:spPr>
      </p:sp>
      <p:sp>
        <p:nvSpPr>
          <p:cNvPr id="26" name="Text 24"/>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Executive Overview — Strategic Modernization at Scale</a:t>
            </a:r>
            <a:endParaRPr lang="en-US" sz="2000" dirty="0"/>
          </a:p>
        </p:txBody>
      </p:sp>
      <p:sp>
        <p:nvSpPr>
          <p:cNvPr id="5" name="Text 3"/>
          <p:cNvSpPr/>
          <p:nvPr/>
        </p:nvSpPr>
        <p:spPr>
          <a:xfrm>
            <a:off x="365760" y="777240"/>
            <a:ext cx="8412480" cy="5029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This roadmap captures the full service delivery lifecycle across loan, payment, financial, and compliance domains. Services are organized by delivery quarter to align engineering capacity with business priorities.</a:t>
            </a:r>
            <a:endParaRPr lang="en-US" sz="1200" dirty="0"/>
          </a:p>
        </p:txBody>
      </p:sp>
      <p:sp>
        <p:nvSpPr>
          <p:cNvPr id="6" name="Shape 4"/>
          <p:cNvSpPr/>
          <p:nvPr/>
        </p:nvSpPr>
        <p:spPr>
          <a:xfrm>
            <a:off x="365760" y="1371600"/>
            <a:ext cx="4023360" cy="3337560"/>
          </a:xfrm>
          <a:prstGeom prst="rect">
            <a:avLst/>
          </a:prstGeom>
          <a:solidFill>
            <a:srgbClr val="2563EB"/>
          </a:solidFill>
          <a:ln/>
          <a:effectLst>
            <a:outerShdw sx="100000" sy="100000" kx="0" ky="0" algn="bl" rotWithShape="0" blurRad="76200" dist="25400" dir="8100000">
              <a:srgbClr val="000000">
                <a:alpha val="12000"/>
              </a:srgbClr>
            </a:outerShdw>
          </a:effectLst>
        </p:spPr>
      </p:sp>
      <p:sp>
        <p:nvSpPr>
          <p:cNvPr id="7" name="Text 5"/>
          <p:cNvSpPr/>
          <p:nvPr/>
        </p:nvSpPr>
        <p:spPr>
          <a:xfrm>
            <a:off x="365760" y="1371600"/>
            <a:ext cx="402336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Delivery Breakdown</a:t>
            </a:r>
            <a:endParaRPr lang="en-US" sz="1300" dirty="0"/>
          </a:p>
        </p:txBody>
      </p:sp>
      <p:sp>
        <p:nvSpPr>
          <p:cNvPr id="8" name="Shape 6"/>
          <p:cNvSpPr/>
          <p:nvPr/>
        </p:nvSpPr>
        <p:spPr>
          <a:xfrm>
            <a:off x="502920" y="1847088"/>
            <a:ext cx="3749040" cy="621792"/>
          </a:xfrm>
          <a:prstGeom prst="rect">
            <a:avLst/>
          </a:prstGeom>
          <a:solidFill>
            <a:srgbClr val="163A6B"/>
          </a:solidFill>
          <a:ln/>
        </p:spPr>
      </p:sp>
      <p:sp>
        <p:nvSpPr>
          <p:cNvPr id="9" name="Shape 7"/>
          <p:cNvSpPr/>
          <p:nvPr/>
        </p:nvSpPr>
        <p:spPr>
          <a:xfrm>
            <a:off x="502920" y="1847088"/>
            <a:ext cx="73152" cy="621792"/>
          </a:xfrm>
          <a:prstGeom prst="rect">
            <a:avLst/>
          </a:prstGeom>
          <a:solidFill>
            <a:srgbClr val="16A34A"/>
          </a:solidFill>
          <a:ln/>
        </p:spPr>
      </p:sp>
      <p:sp>
        <p:nvSpPr>
          <p:cNvPr id="10" name="Text 8"/>
          <p:cNvSpPr/>
          <p:nvPr/>
        </p:nvSpPr>
        <p:spPr>
          <a:xfrm>
            <a:off x="640080" y="1847088"/>
            <a:ext cx="594360" cy="621792"/>
          </a:xfrm>
          <a:prstGeom prst="rect">
            <a:avLst/>
          </a:prstGeom>
          <a:noFill/>
          <a:ln/>
        </p:spPr>
        <p:txBody>
          <a:bodyPr wrap="square" rtlCol="0" anchor="ctr"/>
          <a:lstStyle/>
          <a:p>
            <a:pPr indent="0" marL="0">
              <a:buNone/>
            </a:pPr>
            <a:r>
              <a:rPr lang="en-US" sz="2600" b="1" dirty="0">
                <a:solidFill>
                  <a:srgbClr val="16A34A"/>
                </a:solidFill>
                <a:latin typeface="Calibri" pitchFamily="34" charset="0"/>
                <a:ea typeface="Calibri" pitchFamily="34" charset="-122"/>
                <a:cs typeface="Calibri" pitchFamily="34" charset="-120"/>
              </a:rPr>
              <a:t>3</a:t>
            </a:r>
            <a:endParaRPr lang="en-US" sz="2600" dirty="0"/>
          </a:p>
        </p:txBody>
      </p:sp>
      <p:sp>
        <p:nvSpPr>
          <p:cNvPr id="11" name="Text 9"/>
          <p:cNvSpPr/>
          <p:nvPr/>
        </p:nvSpPr>
        <p:spPr>
          <a:xfrm>
            <a:off x="1325880" y="1901952"/>
            <a:ext cx="2834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Live in Production</a:t>
            </a:r>
            <a:endParaRPr lang="en-US" sz="1200" dirty="0"/>
          </a:p>
        </p:txBody>
      </p:sp>
      <p:sp>
        <p:nvSpPr>
          <p:cNvPr id="12" name="Text 10"/>
          <p:cNvSpPr/>
          <p:nvPr/>
        </p:nvSpPr>
        <p:spPr>
          <a:xfrm>
            <a:off x="1325880" y="2176272"/>
            <a:ext cx="2834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2025 — Completed services</a:t>
            </a:r>
            <a:endParaRPr lang="en-US" sz="900" dirty="0"/>
          </a:p>
        </p:txBody>
      </p:sp>
      <p:sp>
        <p:nvSpPr>
          <p:cNvPr id="13" name="Shape 11"/>
          <p:cNvSpPr/>
          <p:nvPr/>
        </p:nvSpPr>
        <p:spPr>
          <a:xfrm>
            <a:off x="502920" y="2560320"/>
            <a:ext cx="3749040" cy="621792"/>
          </a:xfrm>
          <a:prstGeom prst="rect">
            <a:avLst/>
          </a:prstGeom>
          <a:solidFill>
            <a:srgbClr val="163A6B"/>
          </a:solidFill>
          <a:ln/>
        </p:spPr>
      </p:sp>
      <p:sp>
        <p:nvSpPr>
          <p:cNvPr id="14" name="Shape 12"/>
          <p:cNvSpPr/>
          <p:nvPr/>
        </p:nvSpPr>
        <p:spPr>
          <a:xfrm>
            <a:off x="502920" y="2560320"/>
            <a:ext cx="73152" cy="621792"/>
          </a:xfrm>
          <a:prstGeom prst="rect">
            <a:avLst/>
          </a:prstGeom>
          <a:solidFill>
            <a:srgbClr val="3B82F6"/>
          </a:solidFill>
          <a:ln/>
        </p:spPr>
      </p:sp>
      <p:sp>
        <p:nvSpPr>
          <p:cNvPr id="15" name="Text 13"/>
          <p:cNvSpPr/>
          <p:nvPr/>
        </p:nvSpPr>
        <p:spPr>
          <a:xfrm>
            <a:off x="640080" y="2560320"/>
            <a:ext cx="594360" cy="621792"/>
          </a:xfrm>
          <a:prstGeom prst="rect">
            <a:avLst/>
          </a:prstGeom>
          <a:noFill/>
          <a:ln/>
        </p:spPr>
        <p:txBody>
          <a:bodyPr wrap="square" rtlCol="0" anchor="ctr"/>
          <a:lstStyle/>
          <a:p>
            <a:pPr indent="0" marL="0">
              <a:buNone/>
            </a:pPr>
            <a:r>
              <a:rPr lang="en-US" sz="2600" b="1" dirty="0">
                <a:solidFill>
                  <a:srgbClr val="3B82F6"/>
                </a:solidFill>
                <a:latin typeface="Calibri" pitchFamily="34" charset="0"/>
                <a:ea typeface="Calibri" pitchFamily="34" charset="-122"/>
                <a:cs typeface="Calibri" pitchFamily="34" charset="-120"/>
              </a:rPr>
              <a:t>7</a:t>
            </a:r>
            <a:endParaRPr lang="en-US" sz="2600" dirty="0"/>
          </a:p>
        </p:txBody>
      </p:sp>
      <p:sp>
        <p:nvSpPr>
          <p:cNvPr id="16" name="Text 14"/>
          <p:cNvSpPr/>
          <p:nvPr/>
        </p:nvSpPr>
        <p:spPr>
          <a:xfrm>
            <a:off x="1325880" y="2615184"/>
            <a:ext cx="2834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Q1 2026 Target</a:t>
            </a:r>
            <a:endParaRPr lang="en-US" sz="1200" dirty="0"/>
          </a:p>
        </p:txBody>
      </p:sp>
      <p:sp>
        <p:nvSpPr>
          <p:cNvPr id="17" name="Text 15"/>
          <p:cNvSpPr/>
          <p:nvPr/>
        </p:nvSpPr>
        <p:spPr>
          <a:xfrm>
            <a:off x="1325880" y="2889504"/>
            <a:ext cx="2834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Services in pipeline</a:t>
            </a:r>
            <a:endParaRPr lang="en-US" sz="900" dirty="0"/>
          </a:p>
        </p:txBody>
      </p:sp>
      <p:sp>
        <p:nvSpPr>
          <p:cNvPr id="18" name="Shape 16"/>
          <p:cNvSpPr/>
          <p:nvPr/>
        </p:nvSpPr>
        <p:spPr>
          <a:xfrm>
            <a:off x="502920" y="3273552"/>
            <a:ext cx="3749040" cy="621792"/>
          </a:xfrm>
          <a:prstGeom prst="rect">
            <a:avLst/>
          </a:prstGeom>
          <a:solidFill>
            <a:srgbClr val="163A6B"/>
          </a:solidFill>
          <a:ln/>
        </p:spPr>
      </p:sp>
      <p:sp>
        <p:nvSpPr>
          <p:cNvPr id="19" name="Shape 17"/>
          <p:cNvSpPr/>
          <p:nvPr/>
        </p:nvSpPr>
        <p:spPr>
          <a:xfrm>
            <a:off x="502920" y="3273552"/>
            <a:ext cx="73152" cy="621792"/>
          </a:xfrm>
          <a:prstGeom prst="rect">
            <a:avLst/>
          </a:prstGeom>
          <a:solidFill>
            <a:srgbClr val="0D9488"/>
          </a:solidFill>
          <a:ln/>
        </p:spPr>
      </p:sp>
      <p:sp>
        <p:nvSpPr>
          <p:cNvPr id="20" name="Text 18"/>
          <p:cNvSpPr/>
          <p:nvPr/>
        </p:nvSpPr>
        <p:spPr>
          <a:xfrm>
            <a:off x="640080" y="3273552"/>
            <a:ext cx="594360" cy="621792"/>
          </a:xfrm>
          <a:prstGeom prst="rect">
            <a:avLst/>
          </a:prstGeom>
          <a:noFill/>
          <a:ln/>
        </p:spPr>
        <p:txBody>
          <a:bodyPr wrap="square" rtlCol="0" anchor="ctr"/>
          <a:lstStyle/>
          <a:p>
            <a:pPr indent="0" marL="0">
              <a:buNone/>
            </a:pPr>
            <a:r>
              <a:rPr lang="en-US" sz="2600" b="1" dirty="0">
                <a:solidFill>
                  <a:srgbClr val="0D9488"/>
                </a:solidFill>
                <a:latin typeface="Calibri" pitchFamily="34" charset="0"/>
                <a:ea typeface="Calibri" pitchFamily="34" charset="-122"/>
                <a:cs typeface="Calibri" pitchFamily="34" charset="-120"/>
              </a:rPr>
              <a:t>6</a:t>
            </a:r>
            <a:endParaRPr lang="en-US" sz="2600" dirty="0"/>
          </a:p>
        </p:txBody>
      </p:sp>
      <p:sp>
        <p:nvSpPr>
          <p:cNvPr id="21" name="Text 19"/>
          <p:cNvSpPr/>
          <p:nvPr/>
        </p:nvSpPr>
        <p:spPr>
          <a:xfrm>
            <a:off x="1325880" y="3328416"/>
            <a:ext cx="2834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Q2 2026 Target</a:t>
            </a:r>
            <a:endParaRPr lang="en-US" sz="1200" dirty="0"/>
          </a:p>
        </p:txBody>
      </p:sp>
      <p:sp>
        <p:nvSpPr>
          <p:cNvPr id="22" name="Text 20"/>
          <p:cNvSpPr/>
          <p:nvPr/>
        </p:nvSpPr>
        <p:spPr>
          <a:xfrm>
            <a:off x="1325880" y="3602736"/>
            <a:ext cx="2834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Services in pipeline</a:t>
            </a:r>
            <a:endParaRPr lang="en-US" sz="900" dirty="0"/>
          </a:p>
        </p:txBody>
      </p:sp>
      <p:sp>
        <p:nvSpPr>
          <p:cNvPr id="23" name="Shape 21"/>
          <p:cNvSpPr/>
          <p:nvPr/>
        </p:nvSpPr>
        <p:spPr>
          <a:xfrm>
            <a:off x="502920" y="3986784"/>
            <a:ext cx="3749040" cy="621792"/>
          </a:xfrm>
          <a:prstGeom prst="rect">
            <a:avLst/>
          </a:prstGeom>
          <a:solidFill>
            <a:srgbClr val="163A6B"/>
          </a:solidFill>
          <a:ln/>
        </p:spPr>
      </p:sp>
      <p:sp>
        <p:nvSpPr>
          <p:cNvPr id="24" name="Shape 22"/>
          <p:cNvSpPr/>
          <p:nvPr/>
        </p:nvSpPr>
        <p:spPr>
          <a:xfrm>
            <a:off x="502920" y="3986784"/>
            <a:ext cx="73152" cy="621792"/>
          </a:xfrm>
          <a:prstGeom prst="rect">
            <a:avLst/>
          </a:prstGeom>
          <a:solidFill>
            <a:srgbClr val="D97706"/>
          </a:solidFill>
          <a:ln/>
        </p:spPr>
      </p:sp>
      <p:sp>
        <p:nvSpPr>
          <p:cNvPr id="25" name="Text 23"/>
          <p:cNvSpPr/>
          <p:nvPr/>
        </p:nvSpPr>
        <p:spPr>
          <a:xfrm>
            <a:off x="640080" y="3986784"/>
            <a:ext cx="594360" cy="621792"/>
          </a:xfrm>
          <a:prstGeom prst="rect">
            <a:avLst/>
          </a:prstGeom>
          <a:noFill/>
          <a:ln/>
        </p:spPr>
        <p:txBody>
          <a:bodyPr wrap="square" rtlCol="0" anchor="ctr"/>
          <a:lstStyle/>
          <a:p>
            <a:pPr indent="0" marL="0">
              <a:buNone/>
            </a:pPr>
            <a:r>
              <a:rPr lang="en-US" sz="2600" b="1" dirty="0">
                <a:solidFill>
                  <a:srgbClr val="D97706"/>
                </a:solidFill>
                <a:latin typeface="Calibri" pitchFamily="34" charset="0"/>
                <a:ea typeface="Calibri" pitchFamily="34" charset="-122"/>
                <a:cs typeface="Calibri" pitchFamily="34" charset="-120"/>
              </a:rPr>
              <a:t>4</a:t>
            </a:r>
            <a:endParaRPr lang="en-US" sz="2600" dirty="0"/>
          </a:p>
        </p:txBody>
      </p:sp>
      <p:sp>
        <p:nvSpPr>
          <p:cNvPr id="26" name="Text 24"/>
          <p:cNvSpPr/>
          <p:nvPr/>
        </p:nvSpPr>
        <p:spPr>
          <a:xfrm>
            <a:off x="1325880" y="4041648"/>
            <a:ext cx="2834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Q3/Q4 2026 Target</a:t>
            </a:r>
            <a:endParaRPr lang="en-US" sz="1200" dirty="0"/>
          </a:p>
        </p:txBody>
      </p:sp>
      <p:sp>
        <p:nvSpPr>
          <p:cNvPr id="27" name="Text 25"/>
          <p:cNvSpPr/>
          <p:nvPr/>
        </p:nvSpPr>
        <p:spPr>
          <a:xfrm>
            <a:off x="1325880" y="4315968"/>
            <a:ext cx="2834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Services in pipeline</a:t>
            </a:r>
            <a:endParaRPr lang="en-US" sz="900" dirty="0"/>
          </a:p>
        </p:txBody>
      </p:sp>
      <p:sp>
        <p:nvSpPr>
          <p:cNvPr id="28" name="Text 26"/>
          <p:cNvSpPr/>
          <p:nvPr/>
        </p:nvSpPr>
        <p:spPr>
          <a:xfrm>
            <a:off x="4663440" y="1371600"/>
            <a:ext cx="4114800" cy="347472"/>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Key Highlights</a:t>
            </a:r>
            <a:endParaRPr lang="en-US" sz="1300" dirty="0"/>
          </a:p>
        </p:txBody>
      </p:sp>
      <p:sp>
        <p:nvSpPr>
          <p:cNvPr id="29" name="Shape 27"/>
          <p:cNvSpPr/>
          <p:nvPr/>
        </p:nvSpPr>
        <p:spPr>
          <a:xfrm>
            <a:off x="4663440" y="1828800"/>
            <a:ext cx="41148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8"/>
          <p:cNvSpPr/>
          <p:nvPr/>
        </p:nvSpPr>
        <p:spPr>
          <a:xfrm>
            <a:off x="4663440" y="1828800"/>
            <a:ext cx="91440" cy="868680"/>
          </a:xfrm>
          <a:prstGeom prst="rect">
            <a:avLst/>
          </a:prstGeom>
          <a:solidFill>
            <a:srgbClr val="16A34A"/>
          </a:solidFill>
          <a:ln/>
        </p:spPr>
      </p:sp>
      <p:sp>
        <p:nvSpPr>
          <p:cNvPr id="31" name="Text 29"/>
          <p:cNvSpPr/>
          <p:nvPr/>
        </p:nvSpPr>
        <p:spPr>
          <a:xfrm>
            <a:off x="4828032" y="1883664"/>
            <a:ext cx="384048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Foundation Established</a:t>
            </a:r>
            <a:endParaRPr lang="en-US" sz="1200" dirty="0"/>
          </a:p>
        </p:txBody>
      </p:sp>
      <p:sp>
        <p:nvSpPr>
          <p:cNvPr id="32" name="Text 30"/>
          <p:cNvSpPr/>
          <p:nvPr/>
        </p:nvSpPr>
        <p:spPr>
          <a:xfrm>
            <a:off x="4828032" y="2176272"/>
            <a:ext cx="3840480" cy="4389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 core services fully deployed and operational, forming the backbone of the platform.</a:t>
            </a:r>
            <a:endParaRPr lang="en-US" sz="1000" dirty="0"/>
          </a:p>
        </p:txBody>
      </p:sp>
      <p:sp>
        <p:nvSpPr>
          <p:cNvPr id="33" name="Shape 31"/>
          <p:cNvSpPr/>
          <p:nvPr/>
        </p:nvSpPr>
        <p:spPr>
          <a:xfrm>
            <a:off x="4663440" y="2834640"/>
            <a:ext cx="41148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4" name="Shape 32"/>
          <p:cNvSpPr/>
          <p:nvPr/>
        </p:nvSpPr>
        <p:spPr>
          <a:xfrm>
            <a:off x="4663440" y="2834640"/>
            <a:ext cx="91440" cy="868680"/>
          </a:xfrm>
          <a:prstGeom prst="rect">
            <a:avLst/>
          </a:prstGeom>
          <a:solidFill>
            <a:srgbClr val="2563EB"/>
          </a:solidFill>
          <a:ln/>
        </p:spPr>
      </p:sp>
      <p:sp>
        <p:nvSpPr>
          <p:cNvPr id="35" name="Text 33"/>
          <p:cNvSpPr/>
          <p:nvPr/>
        </p:nvSpPr>
        <p:spPr>
          <a:xfrm>
            <a:off x="4828032" y="2889504"/>
            <a:ext cx="384048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Accelerated Delivery</a:t>
            </a:r>
            <a:endParaRPr lang="en-US" sz="1200" dirty="0"/>
          </a:p>
        </p:txBody>
      </p:sp>
      <p:sp>
        <p:nvSpPr>
          <p:cNvPr id="36" name="Text 34"/>
          <p:cNvSpPr/>
          <p:nvPr/>
        </p:nvSpPr>
        <p:spPr>
          <a:xfrm>
            <a:off x="4828032" y="3182112"/>
            <a:ext cx="3840480" cy="4389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13 services targeted across Q1 and Q2 2026 — the highest-velocity delivery window.</a:t>
            </a:r>
            <a:endParaRPr lang="en-US" sz="1000" dirty="0"/>
          </a:p>
        </p:txBody>
      </p:sp>
      <p:sp>
        <p:nvSpPr>
          <p:cNvPr id="37" name="Shape 35"/>
          <p:cNvSpPr/>
          <p:nvPr/>
        </p:nvSpPr>
        <p:spPr>
          <a:xfrm>
            <a:off x="4663440" y="3840480"/>
            <a:ext cx="41148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8" name="Shape 36"/>
          <p:cNvSpPr/>
          <p:nvPr/>
        </p:nvSpPr>
        <p:spPr>
          <a:xfrm>
            <a:off x="4663440" y="3840480"/>
            <a:ext cx="91440" cy="868680"/>
          </a:xfrm>
          <a:prstGeom prst="rect">
            <a:avLst/>
          </a:prstGeom>
          <a:solidFill>
            <a:srgbClr val="D97706"/>
          </a:solidFill>
          <a:ln/>
        </p:spPr>
      </p:sp>
      <p:sp>
        <p:nvSpPr>
          <p:cNvPr id="39" name="Text 37"/>
          <p:cNvSpPr/>
          <p:nvPr/>
        </p:nvSpPr>
        <p:spPr>
          <a:xfrm>
            <a:off x="4828032" y="3895344"/>
            <a:ext cx="384048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Critical Path Awareness</a:t>
            </a:r>
            <a:endParaRPr lang="en-US" sz="1200" dirty="0"/>
          </a:p>
        </p:txBody>
      </p:sp>
      <p:sp>
        <p:nvSpPr>
          <p:cNvPr id="40" name="Text 38"/>
          <p:cNvSpPr/>
          <p:nvPr/>
        </p:nvSpPr>
        <p:spPr>
          <a:xfrm>
            <a:off x="4828032" y="4187952"/>
            <a:ext cx="3840480" cy="4389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JMS modernization and Enabler Stories are program-level dependencies on the critical path.</a:t>
            </a:r>
            <a:endParaRPr lang="en-US" sz="1000" dirty="0"/>
          </a:p>
        </p:txBody>
      </p:sp>
      <p:sp>
        <p:nvSpPr>
          <p:cNvPr id="41" name="Shape 39"/>
          <p:cNvSpPr/>
          <p:nvPr/>
        </p:nvSpPr>
        <p:spPr>
          <a:xfrm>
            <a:off x="0" y="4956048"/>
            <a:ext cx="9144000" cy="201168"/>
          </a:xfrm>
          <a:prstGeom prst="rect">
            <a:avLst/>
          </a:prstGeom>
          <a:solidFill>
            <a:srgbClr val="152848"/>
          </a:solidFill>
          <a:ln/>
        </p:spPr>
      </p:sp>
      <p:sp>
        <p:nvSpPr>
          <p:cNvPr id="42" name="Text 40"/>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6A34A"/>
          </a:solidFill>
          <a:ln/>
        </p:spPr>
      </p:sp>
      <p:sp>
        <p:nvSpPr>
          <p:cNvPr id="3" name="Shape 1"/>
          <p:cNvSpPr/>
          <p:nvPr/>
        </p:nvSpPr>
        <p:spPr>
          <a:xfrm>
            <a:off x="0" y="658368"/>
            <a:ext cx="9144000" cy="36576"/>
          </a:xfrm>
          <a:prstGeom prst="rect">
            <a:avLst/>
          </a:prstGeom>
          <a:solidFill>
            <a:srgbClr val="0D9488"/>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2025 — Completed Services  |  Live in Production</a:t>
            </a:r>
            <a:endParaRPr lang="en-US" sz="2000" dirty="0"/>
          </a:p>
        </p:txBody>
      </p:sp>
      <p:sp>
        <p:nvSpPr>
          <p:cNvPr id="5" name="Text 3"/>
          <p:cNvSpPr/>
          <p:nvPr/>
        </p:nvSpPr>
        <p:spPr>
          <a:xfrm>
            <a:off x="365760" y="777240"/>
            <a:ext cx="8412480" cy="45720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All three services are fully deployed and operational — forming the backbone of the platform and the foundational layer for all subsequent service delivery.</a:t>
            </a:r>
            <a:endParaRPr lang="en-US" sz="1200" dirty="0"/>
          </a:p>
        </p:txBody>
      </p:sp>
      <p:sp>
        <p:nvSpPr>
          <p:cNvPr id="6" name="Shape 4"/>
          <p:cNvSpPr/>
          <p:nvPr/>
        </p:nvSpPr>
        <p:spPr>
          <a:xfrm>
            <a:off x="365760" y="1371600"/>
            <a:ext cx="841248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65760" y="1371600"/>
            <a:ext cx="91440" cy="868680"/>
          </a:xfrm>
          <a:prstGeom prst="rect">
            <a:avLst/>
          </a:prstGeom>
          <a:solidFill>
            <a:srgbClr val="16A34A"/>
          </a:solidFill>
          <a:ln/>
        </p:spPr>
      </p:sp>
      <p:sp>
        <p:nvSpPr>
          <p:cNvPr id="8" name="Shape 6"/>
          <p:cNvSpPr/>
          <p:nvPr/>
        </p:nvSpPr>
        <p:spPr>
          <a:xfrm>
            <a:off x="548640" y="1572768"/>
            <a:ext cx="438912" cy="438912"/>
          </a:xfrm>
          <a:prstGeom prst="ellipse">
            <a:avLst/>
          </a:prstGeom>
          <a:solidFill>
            <a:srgbClr val="DCFCE7"/>
          </a:solidFill>
          <a:ln/>
        </p:spPr>
      </p:sp>
      <p:sp>
        <p:nvSpPr>
          <p:cNvPr id="9" name="Text 7"/>
          <p:cNvSpPr/>
          <p:nvPr/>
        </p:nvSpPr>
        <p:spPr>
          <a:xfrm>
            <a:off x="548640" y="1572768"/>
            <a:ext cx="438912" cy="438912"/>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1</a:t>
            </a:r>
            <a:endParaRPr lang="en-US" sz="1400" dirty="0"/>
          </a:p>
        </p:txBody>
      </p:sp>
      <p:sp>
        <p:nvSpPr>
          <p:cNvPr id="10" name="Shape 8"/>
          <p:cNvSpPr/>
          <p:nvPr/>
        </p:nvSpPr>
        <p:spPr>
          <a:xfrm>
            <a:off x="7772400" y="1508760"/>
            <a:ext cx="804672" cy="256032"/>
          </a:xfrm>
          <a:prstGeom prst="roundRect">
            <a:avLst>
              <a:gd name="adj" fmla="val 17857"/>
            </a:avLst>
          </a:prstGeom>
          <a:solidFill>
            <a:srgbClr val="16A34A"/>
          </a:solidFill>
          <a:ln/>
        </p:spPr>
      </p:sp>
      <p:sp>
        <p:nvSpPr>
          <p:cNvPr id="11" name="Text 9"/>
          <p:cNvSpPr/>
          <p:nvPr/>
        </p:nvSpPr>
        <p:spPr>
          <a:xfrm>
            <a:off x="7772400" y="1508760"/>
            <a:ext cx="80467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a:t>
            </a:r>
            <a:endParaRPr lang="en-US" sz="1000" dirty="0"/>
          </a:p>
        </p:txBody>
      </p:sp>
      <p:sp>
        <p:nvSpPr>
          <p:cNvPr id="12" name="Shape 10"/>
          <p:cNvSpPr/>
          <p:nvPr/>
        </p:nvSpPr>
        <p:spPr>
          <a:xfrm>
            <a:off x="7772400" y="1874520"/>
            <a:ext cx="804672" cy="219456"/>
          </a:xfrm>
          <a:prstGeom prst="roundRect">
            <a:avLst>
              <a:gd name="adj" fmla="val 20833"/>
            </a:avLst>
          </a:prstGeom>
          <a:solidFill>
            <a:srgbClr val="DCFCE7"/>
          </a:solidFill>
          <a:ln/>
        </p:spPr>
      </p:sp>
      <p:sp>
        <p:nvSpPr>
          <p:cNvPr id="13" name="Text 11"/>
          <p:cNvSpPr/>
          <p:nvPr/>
        </p:nvSpPr>
        <p:spPr>
          <a:xfrm>
            <a:off x="7772400" y="1874520"/>
            <a:ext cx="804672" cy="219456"/>
          </a:xfrm>
          <a:prstGeom prst="rect">
            <a:avLst/>
          </a:prstGeom>
          <a:noFill/>
          <a:ln/>
        </p:spPr>
        <p:txBody>
          <a:bodyPr wrap="square" rtlCol="0" anchor="ctr"/>
          <a:lstStyle/>
          <a:p>
            <a:pPr algn="ctr" indent="0" marL="0">
              <a:buNone/>
            </a:pPr>
            <a:r>
              <a:rPr lang="en-US" sz="900" b="1" dirty="0">
                <a:solidFill>
                  <a:srgbClr val="16A34A"/>
                </a:solidFill>
                <a:latin typeface="Calibri" pitchFamily="34" charset="0"/>
                <a:ea typeface="Calibri" pitchFamily="34" charset="-122"/>
                <a:cs typeface="Calibri" pitchFamily="34" charset="-120"/>
              </a:rPr>
              <a:t>Complete</a:t>
            </a:r>
            <a:endParaRPr lang="en-US" sz="900" dirty="0"/>
          </a:p>
        </p:txBody>
      </p:sp>
      <p:sp>
        <p:nvSpPr>
          <p:cNvPr id="14" name="Text 12"/>
          <p:cNvSpPr/>
          <p:nvPr/>
        </p:nvSpPr>
        <p:spPr>
          <a:xfrm>
            <a:off x="1143000" y="1463040"/>
            <a:ext cx="6492240" cy="292608"/>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Loan Disbursement Service</a:t>
            </a:r>
            <a:endParaRPr lang="en-US" sz="1400" dirty="0"/>
          </a:p>
        </p:txBody>
      </p:sp>
      <p:sp>
        <p:nvSpPr>
          <p:cNvPr id="15" name="Text 13"/>
          <p:cNvSpPr/>
          <p:nvPr/>
        </p:nvSpPr>
        <p:spPr>
          <a:xfrm>
            <a:off x="1143000" y="1810512"/>
            <a:ext cx="6492240" cy="32918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Core disbursement engine powering loan origination and fund release workflows.</a:t>
            </a:r>
            <a:endParaRPr lang="en-US" sz="1100" dirty="0"/>
          </a:p>
        </p:txBody>
      </p:sp>
      <p:sp>
        <p:nvSpPr>
          <p:cNvPr id="16" name="Shape 14"/>
          <p:cNvSpPr/>
          <p:nvPr/>
        </p:nvSpPr>
        <p:spPr>
          <a:xfrm>
            <a:off x="365760" y="2377440"/>
            <a:ext cx="841248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365760" y="2377440"/>
            <a:ext cx="91440" cy="868680"/>
          </a:xfrm>
          <a:prstGeom prst="rect">
            <a:avLst/>
          </a:prstGeom>
          <a:solidFill>
            <a:srgbClr val="16A34A"/>
          </a:solidFill>
          <a:ln/>
        </p:spPr>
      </p:sp>
      <p:sp>
        <p:nvSpPr>
          <p:cNvPr id="18" name="Shape 16"/>
          <p:cNvSpPr/>
          <p:nvPr/>
        </p:nvSpPr>
        <p:spPr>
          <a:xfrm>
            <a:off x="548640" y="2578608"/>
            <a:ext cx="438912" cy="438912"/>
          </a:xfrm>
          <a:prstGeom prst="ellipse">
            <a:avLst/>
          </a:prstGeom>
          <a:solidFill>
            <a:srgbClr val="DCFCE7"/>
          </a:solidFill>
          <a:ln/>
        </p:spPr>
      </p:sp>
      <p:sp>
        <p:nvSpPr>
          <p:cNvPr id="19" name="Text 17"/>
          <p:cNvSpPr/>
          <p:nvPr/>
        </p:nvSpPr>
        <p:spPr>
          <a:xfrm>
            <a:off x="548640" y="2578608"/>
            <a:ext cx="438912" cy="438912"/>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2</a:t>
            </a:r>
            <a:endParaRPr lang="en-US" sz="1400" dirty="0"/>
          </a:p>
        </p:txBody>
      </p:sp>
      <p:sp>
        <p:nvSpPr>
          <p:cNvPr id="20" name="Shape 18"/>
          <p:cNvSpPr/>
          <p:nvPr/>
        </p:nvSpPr>
        <p:spPr>
          <a:xfrm>
            <a:off x="7772400" y="2514600"/>
            <a:ext cx="804672" cy="256032"/>
          </a:xfrm>
          <a:prstGeom prst="roundRect">
            <a:avLst>
              <a:gd name="adj" fmla="val 17857"/>
            </a:avLst>
          </a:prstGeom>
          <a:solidFill>
            <a:srgbClr val="16A34A"/>
          </a:solidFill>
          <a:ln/>
        </p:spPr>
      </p:sp>
      <p:sp>
        <p:nvSpPr>
          <p:cNvPr id="21" name="Text 19"/>
          <p:cNvSpPr/>
          <p:nvPr/>
        </p:nvSpPr>
        <p:spPr>
          <a:xfrm>
            <a:off x="7772400" y="2514600"/>
            <a:ext cx="80467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a:t>
            </a:r>
            <a:endParaRPr lang="en-US" sz="1000" dirty="0"/>
          </a:p>
        </p:txBody>
      </p:sp>
      <p:sp>
        <p:nvSpPr>
          <p:cNvPr id="22" name="Shape 20"/>
          <p:cNvSpPr/>
          <p:nvPr/>
        </p:nvSpPr>
        <p:spPr>
          <a:xfrm>
            <a:off x="7772400" y="2880360"/>
            <a:ext cx="804672" cy="219456"/>
          </a:xfrm>
          <a:prstGeom prst="roundRect">
            <a:avLst>
              <a:gd name="adj" fmla="val 20833"/>
            </a:avLst>
          </a:prstGeom>
          <a:solidFill>
            <a:srgbClr val="DCFCE7"/>
          </a:solidFill>
          <a:ln/>
        </p:spPr>
      </p:sp>
      <p:sp>
        <p:nvSpPr>
          <p:cNvPr id="23" name="Text 21"/>
          <p:cNvSpPr/>
          <p:nvPr/>
        </p:nvSpPr>
        <p:spPr>
          <a:xfrm>
            <a:off x="7772400" y="2880360"/>
            <a:ext cx="804672" cy="219456"/>
          </a:xfrm>
          <a:prstGeom prst="rect">
            <a:avLst/>
          </a:prstGeom>
          <a:noFill/>
          <a:ln/>
        </p:spPr>
        <p:txBody>
          <a:bodyPr wrap="square" rtlCol="0" anchor="ctr"/>
          <a:lstStyle/>
          <a:p>
            <a:pPr algn="ctr" indent="0" marL="0">
              <a:buNone/>
            </a:pPr>
            <a:r>
              <a:rPr lang="en-US" sz="900" b="1" dirty="0">
                <a:solidFill>
                  <a:srgbClr val="16A34A"/>
                </a:solidFill>
                <a:latin typeface="Calibri" pitchFamily="34" charset="0"/>
                <a:ea typeface="Calibri" pitchFamily="34" charset="-122"/>
                <a:cs typeface="Calibri" pitchFamily="34" charset="-120"/>
              </a:rPr>
              <a:t>Complete</a:t>
            </a:r>
            <a:endParaRPr lang="en-US" sz="900" dirty="0"/>
          </a:p>
        </p:txBody>
      </p:sp>
      <p:sp>
        <p:nvSpPr>
          <p:cNvPr id="24" name="Text 22"/>
          <p:cNvSpPr/>
          <p:nvPr/>
        </p:nvSpPr>
        <p:spPr>
          <a:xfrm>
            <a:off x="1143000" y="2468880"/>
            <a:ext cx="6492240" cy="292608"/>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Borrower Service</a:t>
            </a:r>
            <a:endParaRPr lang="en-US" sz="1400" dirty="0"/>
          </a:p>
        </p:txBody>
      </p:sp>
      <p:sp>
        <p:nvSpPr>
          <p:cNvPr id="25" name="Text 23"/>
          <p:cNvSpPr/>
          <p:nvPr/>
        </p:nvSpPr>
        <p:spPr>
          <a:xfrm>
            <a:off x="1143000" y="2816352"/>
            <a:ext cx="6492240" cy="32918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Manages borrower identity, profile, and lifecycle data across the platform.</a:t>
            </a:r>
            <a:endParaRPr lang="en-US" sz="1100" dirty="0"/>
          </a:p>
        </p:txBody>
      </p:sp>
      <p:sp>
        <p:nvSpPr>
          <p:cNvPr id="26" name="Shape 24"/>
          <p:cNvSpPr/>
          <p:nvPr/>
        </p:nvSpPr>
        <p:spPr>
          <a:xfrm>
            <a:off x="365760" y="3383280"/>
            <a:ext cx="841248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365760" y="3383280"/>
            <a:ext cx="91440" cy="868680"/>
          </a:xfrm>
          <a:prstGeom prst="rect">
            <a:avLst/>
          </a:prstGeom>
          <a:solidFill>
            <a:srgbClr val="16A34A"/>
          </a:solidFill>
          <a:ln/>
        </p:spPr>
      </p:sp>
      <p:sp>
        <p:nvSpPr>
          <p:cNvPr id="28" name="Shape 26"/>
          <p:cNvSpPr/>
          <p:nvPr/>
        </p:nvSpPr>
        <p:spPr>
          <a:xfrm>
            <a:off x="548640" y="3584448"/>
            <a:ext cx="438912" cy="438912"/>
          </a:xfrm>
          <a:prstGeom prst="ellipse">
            <a:avLst/>
          </a:prstGeom>
          <a:solidFill>
            <a:srgbClr val="DCFCE7"/>
          </a:solidFill>
          <a:ln/>
        </p:spPr>
      </p:sp>
      <p:sp>
        <p:nvSpPr>
          <p:cNvPr id="29" name="Text 27"/>
          <p:cNvSpPr/>
          <p:nvPr/>
        </p:nvSpPr>
        <p:spPr>
          <a:xfrm>
            <a:off x="548640" y="3584448"/>
            <a:ext cx="438912" cy="438912"/>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3</a:t>
            </a:r>
            <a:endParaRPr lang="en-US" sz="1400" dirty="0"/>
          </a:p>
        </p:txBody>
      </p:sp>
      <p:sp>
        <p:nvSpPr>
          <p:cNvPr id="30" name="Shape 28"/>
          <p:cNvSpPr/>
          <p:nvPr/>
        </p:nvSpPr>
        <p:spPr>
          <a:xfrm>
            <a:off x="7772400" y="3520440"/>
            <a:ext cx="804672" cy="256032"/>
          </a:xfrm>
          <a:prstGeom prst="roundRect">
            <a:avLst>
              <a:gd name="adj" fmla="val 17857"/>
            </a:avLst>
          </a:prstGeom>
          <a:solidFill>
            <a:srgbClr val="16A34A"/>
          </a:solidFill>
          <a:ln/>
        </p:spPr>
      </p:sp>
      <p:sp>
        <p:nvSpPr>
          <p:cNvPr id="31" name="Text 29"/>
          <p:cNvSpPr/>
          <p:nvPr/>
        </p:nvSpPr>
        <p:spPr>
          <a:xfrm>
            <a:off x="7772400" y="3520440"/>
            <a:ext cx="80467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a:t>
            </a:r>
            <a:endParaRPr lang="en-US" sz="1000" dirty="0"/>
          </a:p>
        </p:txBody>
      </p:sp>
      <p:sp>
        <p:nvSpPr>
          <p:cNvPr id="32" name="Shape 30"/>
          <p:cNvSpPr/>
          <p:nvPr/>
        </p:nvSpPr>
        <p:spPr>
          <a:xfrm>
            <a:off x="7772400" y="3886200"/>
            <a:ext cx="804672" cy="219456"/>
          </a:xfrm>
          <a:prstGeom prst="roundRect">
            <a:avLst>
              <a:gd name="adj" fmla="val 20833"/>
            </a:avLst>
          </a:prstGeom>
          <a:solidFill>
            <a:srgbClr val="DCFCE7"/>
          </a:solidFill>
          <a:ln/>
        </p:spPr>
      </p:sp>
      <p:sp>
        <p:nvSpPr>
          <p:cNvPr id="33" name="Text 31"/>
          <p:cNvSpPr/>
          <p:nvPr/>
        </p:nvSpPr>
        <p:spPr>
          <a:xfrm>
            <a:off x="7772400" y="3886200"/>
            <a:ext cx="804672" cy="219456"/>
          </a:xfrm>
          <a:prstGeom prst="rect">
            <a:avLst/>
          </a:prstGeom>
          <a:noFill/>
          <a:ln/>
        </p:spPr>
        <p:txBody>
          <a:bodyPr wrap="square" rtlCol="0" anchor="ctr"/>
          <a:lstStyle/>
          <a:p>
            <a:pPr algn="ctr" indent="0" marL="0">
              <a:buNone/>
            </a:pPr>
            <a:r>
              <a:rPr lang="en-US" sz="900" b="1" dirty="0">
                <a:solidFill>
                  <a:srgbClr val="16A34A"/>
                </a:solidFill>
                <a:latin typeface="Calibri" pitchFamily="34" charset="0"/>
                <a:ea typeface="Calibri" pitchFamily="34" charset="-122"/>
                <a:cs typeface="Calibri" pitchFamily="34" charset="-120"/>
              </a:rPr>
              <a:t>Complete</a:t>
            </a:r>
            <a:endParaRPr lang="en-US" sz="900" dirty="0"/>
          </a:p>
        </p:txBody>
      </p:sp>
      <p:sp>
        <p:nvSpPr>
          <p:cNvPr id="34" name="Text 32"/>
          <p:cNvSpPr/>
          <p:nvPr/>
        </p:nvSpPr>
        <p:spPr>
          <a:xfrm>
            <a:off x="1143000" y="3474720"/>
            <a:ext cx="6492240" cy="292608"/>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Case Service</a:t>
            </a:r>
            <a:endParaRPr lang="en-US" sz="1400" dirty="0"/>
          </a:p>
        </p:txBody>
      </p:sp>
      <p:sp>
        <p:nvSpPr>
          <p:cNvPr id="35" name="Text 33"/>
          <p:cNvSpPr/>
          <p:nvPr/>
        </p:nvSpPr>
        <p:spPr>
          <a:xfrm>
            <a:off x="1143000" y="3822192"/>
            <a:ext cx="6492240" cy="32918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Handles case management, tracking, and resolution workflows for all loan cases.</a:t>
            </a:r>
            <a:endParaRPr lang="en-US" sz="1100" dirty="0"/>
          </a:p>
        </p:txBody>
      </p:sp>
      <p:sp>
        <p:nvSpPr>
          <p:cNvPr id="36" name="Shape 34"/>
          <p:cNvSpPr/>
          <p:nvPr/>
        </p:nvSpPr>
        <p:spPr>
          <a:xfrm>
            <a:off x="365760" y="4407408"/>
            <a:ext cx="8412480" cy="384048"/>
          </a:xfrm>
          <a:prstGeom prst="rect">
            <a:avLst/>
          </a:prstGeom>
          <a:solidFill>
            <a:srgbClr val="DCFCE7"/>
          </a:solidFill>
          <a:ln/>
        </p:spPr>
      </p:sp>
      <p:sp>
        <p:nvSpPr>
          <p:cNvPr id="37" name="Shape 35"/>
          <p:cNvSpPr/>
          <p:nvPr/>
        </p:nvSpPr>
        <p:spPr>
          <a:xfrm>
            <a:off x="365760" y="4407408"/>
            <a:ext cx="91440" cy="384048"/>
          </a:xfrm>
          <a:prstGeom prst="rect">
            <a:avLst/>
          </a:prstGeom>
          <a:solidFill>
            <a:srgbClr val="16A34A"/>
          </a:solidFill>
          <a:ln/>
        </p:spPr>
      </p:sp>
      <p:sp>
        <p:nvSpPr>
          <p:cNvPr id="38" name="Text 36"/>
          <p:cNvSpPr/>
          <p:nvPr/>
        </p:nvSpPr>
        <p:spPr>
          <a:xfrm>
            <a:off x="566928" y="4407408"/>
            <a:ext cx="8138160" cy="384048"/>
          </a:xfrm>
          <a:prstGeom prst="rect">
            <a:avLst/>
          </a:prstGeom>
          <a:noFill/>
          <a:ln/>
        </p:spPr>
        <p:txBody>
          <a:bodyPr wrap="square" rtlCol="0" anchor="ctr"/>
          <a:lstStyle/>
          <a:p>
            <a:pPr indent="0" marL="0">
              <a:buNone/>
            </a:pPr>
            <a:r>
              <a:rPr lang="en-US" sz="1100" dirty="0">
                <a:solidFill>
                  <a:srgbClr val="16A34A"/>
                </a:solidFill>
                <a:latin typeface="Calibri" pitchFamily="34" charset="0"/>
                <a:ea typeface="Calibri" pitchFamily="34" charset="-122"/>
                <a:cs typeface="Calibri" pitchFamily="34" charset="-120"/>
              </a:rPr>
              <a:t>These three production services represent the stable foundation upon which all Q1–Q4 2026 services will be built and integrated.</a:t>
            </a:r>
            <a:endParaRPr lang="en-US" sz="1100" dirty="0"/>
          </a:p>
        </p:txBody>
      </p:sp>
      <p:sp>
        <p:nvSpPr>
          <p:cNvPr id="39" name="Shape 37"/>
          <p:cNvSpPr/>
          <p:nvPr/>
        </p:nvSpPr>
        <p:spPr>
          <a:xfrm>
            <a:off x="0" y="4956048"/>
            <a:ext cx="9144000" cy="201168"/>
          </a:xfrm>
          <a:prstGeom prst="rect">
            <a:avLst/>
          </a:prstGeom>
          <a:solidFill>
            <a:srgbClr val="152848"/>
          </a:solidFill>
          <a:ln/>
        </p:spPr>
      </p:sp>
      <p:sp>
        <p:nvSpPr>
          <p:cNvPr id="40" name="Text 38"/>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Q1 2026 — Service Delivery Pipeline</a:t>
            </a:r>
            <a:endParaRPr lang="en-US" sz="2000" dirty="0"/>
          </a:p>
        </p:txBody>
      </p:sp>
      <p:sp>
        <p:nvSpPr>
          <p:cNvPr id="5" name="Shape 3"/>
          <p:cNvSpPr/>
          <p:nvPr/>
        </p:nvSpPr>
        <p:spPr>
          <a:xfrm>
            <a:off x="7315200" y="128016"/>
            <a:ext cx="1554480" cy="402336"/>
          </a:xfrm>
          <a:prstGeom prst="roundRect">
            <a:avLst>
              <a:gd name="adj" fmla="val 13636"/>
            </a:avLst>
          </a:prstGeom>
          <a:solidFill>
            <a:srgbClr val="3B82F6"/>
          </a:solidFill>
          <a:ln/>
        </p:spPr>
      </p:sp>
      <p:sp>
        <p:nvSpPr>
          <p:cNvPr id="6" name="Text 4"/>
          <p:cNvSpPr/>
          <p:nvPr/>
        </p:nvSpPr>
        <p:spPr>
          <a:xfrm>
            <a:off x="7315200" y="128016"/>
            <a:ext cx="155448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Services</a:t>
            </a:r>
            <a:endParaRPr lang="en-US" sz="1100" dirty="0"/>
          </a:p>
        </p:txBody>
      </p:sp>
      <p:sp>
        <p:nvSpPr>
          <p:cNvPr id="7" name="Text 5"/>
          <p:cNvSpPr/>
          <p:nvPr/>
        </p:nvSpPr>
        <p:spPr>
          <a:xfrm>
            <a:off x="365760" y="777240"/>
            <a:ext cx="8412480" cy="38404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Seven services are targeted for Q1 2026 delivery, spanning QA and active development stages. Two services carry notable dependencies requiring early resolution.</a:t>
            </a:r>
            <a:endParaRPr lang="en-US" sz="1200" dirty="0"/>
          </a:p>
        </p:txBody>
      </p:sp>
      <p:sp>
        <p:nvSpPr>
          <p:cNvPr id="8" name="Shape 6"/>
          <p:cNvSpPr/>
          <p:nvPr/>
        </p:nvSpPr>
        <p:spPr>
          <a:xfrm>
            <a:off x="365760" y="1261872"/>
            <a:ext cx="1920240" cy="566928"/>
          </a:xfrm>
          <a:prstGeom prst="rect">
            <a:avLst/>
          </a:prstGeom>
          <a:solidFill>
            <a:srgbClr val="D97706"/>
          </a:solidFill>
          <a:ln/>
          <a:effectLst>
            <a:outerShdw sx="100000" sy="100000" kx="0" ky="0" algn="bl" rotWithShape="0" blurRad="76200" dist="25400" dir="8100000">
              <a:srgbClr val="000000">
                <a:alpha val="12000"/>
              </a:srgbClr>
            </a:outerShdw>
          </a:effectLst>
        </p:spPr>
      </p:sp>
      <p:sp>
        <p:nvSpPr>
          <p:cNvPr id="9" name="Text 7"/>
          <p:cNvSpPr/>
          <p:nvPr/>
        </p:nvSpPr>
        <p:spPr>
          <a:xfrm>
            <a:off x="365760" y="1261872"/>
            <a:ext cx="192024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0" name="Text 8"/>
          <p:cNvSpPr/>
          <p:nvPr/>
        </p:nvSpPr>
        <p:spPr>
          <a:xfrm>
            <a:off x="365760" y="1591056"/>
            <a:ext cx="192024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In QA</a:t>
            </a:r>
            <a:endParaRPr lang="en-US" sz="900" dirty="0"/>
          </a:p>
        </p:txBody>
      </p:sp>
      <p:sp>
        <p:nvSpPr>
          <p:cNvPr id="11" name="Shape 9"/>
          <p:cNvSpPr/>
          <p:nvPr/>
        </p:nvSpPr>
        <p:spPr>
          <a:xfrm>
            <a:off x="2468880" y="1261872"/>
            <a:ext cx="1920240" cy="566928"/>
          </a:xfrm>
          <a:prstGeom prst="rect">
            <a:avLst/>
          </a:prstGeom>
          <a:solidFill>
            <a:srgbClr val="2563EB"/>
          </a:solidFill>
          <a:ln/>
          <a:effectLst>
            <a:outerShdw sx="100000" sy="100000" kx="0" ky="0" algn="bl" rotWithShape="0" blurRad="76200" dist="25400" dir="8100000">
              <a:srgbClr val="000000">
                <a:alpha val="12000"/>
              </a:srgbClr>
            </a:outerShdw>
          </a:effectLst>
        </p:spPr>
      </p:sp>
      <p:sp>
        <p:nvSpPr>
          <p:cNvPr id="12" name="Text 10"/>
          <p:cNvSpPr/>
          <p:nvPr/>
        </p:nvSpPr>
        <p:spPr>
          <a:xfrm>
            <a:off x="2468880" y="1261872"/>
            <a:ext cx="192024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3" name="Text 11"/>
          <p:cNvSpPr/>
          <p:nvPr/>
        </p:nvSpPr>
        <p:spPr>
          <a:xfrm>
            <a:off x="2468880" y="1591056"/>
            <a:ext cx="192024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In DEV</a:t>
            </a:r>
            <a:endParaRPr lang="en-US" sz="900" dirty="0"/>
          </a:p>
        </p:txBody>
      </p:sp>
      <p:sp>
        <p:nvSpPr>
          <p:cNvPr id="14" name="Shape 12"/>
          <p:cNvSpPr/>
          <p:nvPr/>
        </p:nvSpPr>
        <p:spPr>
          <a:xfrm>
            <a:off x="4572000" y="1261872"/>
            <a:ext cx="1920240" cy="566928"/>
          </a:xfrm>
          <a:prstGeom prst="rect">
            <a:avLst/>
          </a:prstGeom>
          <a:solidFill>
            <a:srgbClr val="DC2626"/>
          </a:solidFill>
          <a:ln/>
          <a:effectLst>
            <a:outerShdw sx="100000" sy="100000" kx="0" ky="0" algn="bl" rotWithShape="0" blurRad="76200" dist="25400" dir="8100000">
              <a:srgbClr val="000000">
                <a:alpha val="12000"/>
              </a:srgbClr>
            </a:outerShdw>
          </a:effectLst>
        </p:spPr>
      </p:sp>
      <p:sp>
        <p:nvSpPr>
          <p:cNvPr id="15" name="Text 13"/>
          <p:cNvSpPr/>
          <p:nvPr/>
        </p:nvSpPr>
        <p:spPr>
          <a:xfrm>
            <a:off x="4572000" y="1261872"/>
            <a:ext cx="192024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6" name="Text 14"/>
          <p:cNvSpPr/>
          <p:nvPr/>
        </p:nvSpPr>
        <p:spPr>
          <a:xfrm>
            <a:off x="4572000" y="1591056"/>
            <a:ext cx="192024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Legacy Dep.</a:t>
            </a:r>
            <a:endParaRPr lang="en-US" sz="900" dirty="0"/>
          </a:p>
        </p:txBody>
      </p:sp>
      <p:sp>
        <p:nvSpPr>
          <p:cNvPr id="17" name="Shape 15"/>
          <p:cNvSpPr/>
          <p:nvPr/>
        </p:nvSpPr>
        <p:spPr>
          <a:xfrm>
            <a:off x="6675120" y="1261872"/>
            <a:ext cx="1920240" cy="566928"/>
          </a:xfrm>
          <a:prstGeom prst="rect">
            <a:avLst/>
          </a:prstGeom>
          <a:solidFill>
            <a:srgbClr val="64748B"/>
          </a:solidFill>
          <a:ln/>
          <a:effectLst>
            <a:outerShdw sx="100000" sy="100000" kx="0" ky="0" algn="bl" rotWithShape="0" blurRad="76200" dist="25400" dir="8100000">
              <a:srgbClr val="000000">
                <a:alpha val="12000"/>
              </a:srgbClr>
            </a:outerShdw>
          </a:effectLst>
        </p:spPr>
      </p:sp>
      <p:sp>
        <p:nvSpPr>
          <p:cNvPr id="18" name="Text 16"/>
          <p:cNvSpPr/>
          <p:nvPr/>
        </p:nvSpPr>
        <p:spPr>
          <a:xfrm>
            <a:off x="6675120" y="1261872"/>
            <a:ext cx="1920240" cy="34747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9" name="Text 17"/>
          <p:cNvSpPr/>
          <p:nvPr/>
        </p:nvSpPr>
        <p:spPr>
          <a:xfrm>
            <a:off x="6675120" y="1591056"/>
            <a:ext cx="192024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External Dep.</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938528"/>
          <a:ext cx="8412480" cy="914400"/>
        </p:xfrm>
        <a:graphic>
          <a:graphicData uri="http://schemas.openxmlformats.org/drawingml/2006/table">
            <a:tbl>
              <a:tblPr/>
              <a:tblGrid>
                <a:gridCol w="3291840"/>
                <a:gridCol w="1097280"/>
                <a:gridCol w="1737360"/>
                <a:gridCol w="22860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 Name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Dependency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Business Event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QA</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Person Associations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QA</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Loan Default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QA</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Older EJB</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Legacy dependency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Billing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QA</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Payment Service V2</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2563EB"/>
                          </a:solidFill>
                          <a:latin typeface="Calibri" pitchFamily="34" charset="0"/>
                          <a:ea typeface="Calibri" pitchFamily="34" charset="-122"/>
                          <a:cs typeface="Calibri" pitchFamily="34" charset="-120"/>
                        </a:rPr>
                        <a:t>DEV</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Credit Reporting Service V2</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2563EB"/>
                          </a:solidFill>
                          <a:latin typeface="Calibri" pitchFamily="34" charset="0"/>
                          <a:ea typeface="Calibri" pitchFamily="34" charset="-122"/>
                          <a:cs typeface="Calibri" pitchFamily="34" charset="-120"/>
                        </a:rPr>
                        <a:t>DEV</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External</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Enabler Story required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Guaranty Rehab Service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2563EB"/>
                          </a:solidFill>
                          <a:latin typeface="Calibri" pitchFamily="34" charset="0"/>
                          <a:ea typeface="Calibri" pitchFamily="34" charset="-122"/>
                          <a:cs typeface="Calibri" pitchFamily="34" charset="-120"/>
                        </a:rPr>
                        <a:t>DEV</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1" name="Shape 18"/>
          <p:cNvSpPr/>
          <p:nvPr/>
        </p:nvSpPr>
        <p:spPr>
          <a:xfrm>
            <a:off x="365760" y="4617720"/>
            <a:ext cx="4160520" cy="347472"/>
          </a:xfrm>
          <a:prstGeom prst="rect">
            <a:avLst/>
          </a:prstGeom>
          <a:solidFill>
            <a:srgbClr val="FEF3C7"/>
          </a:solidFill>
          <a:ln/>
          <a:effectLst>
            <a:outerShdw sx="100000" sy="100000" kx="0" ky="0" algn="bl" rotWithShape="0" blurRad="76200" dist="25400" dir="8100000">
              <a:srgbClr val="000000">
                <a:alpha val="12000"/>
              </a:srgbClr>
            </a:outerShdw>
          </a:effectLst>
        </p:spPr>
      </p:sp>
      <p:sp>
        <p:nvSpPr>
          <p:cNvPr id="22" name="Shape 19"/>
          <p:cNvSpPr/>
          <p:nvPr/>
        </p:nvSpPr>
        <p:spPr>
          <a:xfrm>
            <a:off x="365760" y="4617720"/>
            <a:ext cx="73152" cy="347472"/>
          </a:xfrm>
          <a:prstGeom prst="rect">
            <a:avLst/>
          </a:prstGeom>
          <a:solidFill>
            <a:srgbClr val="D97706"/>
          </a:solidFill>
          <a:ln/>
        </p:spPr>
      </p:sp>
      <p:sp>
        <p:nvSpPr>
          <p:cNvPr id="23" name="Text 20"/>
          <p:cNvSpPr/>
          <p:nvPr/>
        </p:nvSpPr>
        <p:spPr>
          <a:xfrm>
            <a:off x="502920" y="4617720"/>
            <a:ext cx="3931920" cy="347472"/>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4 Services in QA: Business Event, Person Associations, Loan Default, Billing — advancing through quality gates.</a:t>
            </a:r>
            <a:endParaRPr lang="en-US" sz="950" dirty="0"/>
          </a:p>
        </p:txBody>
      </p:sp>
      <p:sp>
        <p:nvSpPr>
          <p:cNvPr id="24" name="Shape 21"/>
          <p:cNvSpPr/>
          <p:nvPr/>
        </p:nvSpPr>
        <p:spPr>
          <a:xfrm>
            <a:off x="4754880" y="4617720"/>
            <a:ext cx="4160520" cy="347472"/>
          </a:xfrm>
          <a:prstGeom prst="rect">
            <a:avLst/>
          </a:prstGeom>
          <a:solidFill>
            <a:srgbClr val="DBEAFE"/>
          </a:solidFill>
          <a:ln/>
          <a:effectLst>
            <a:outerShdw sx="100000" sy="100000" kx="0" ky="0" algn="bl" rotWithShape="0" blurRad="76200" dist="25400" dir="8100000">
              <a:srgbClr val="000000">
                <a:alpha val="12000"/>
              </a:srgbClr>
            </a:outerShdw>
          </a:effectLst>
        </p:spPr>
      </p:sp>
      <p:sp>
        <p:nvSpPr>
          <p:cNvPr id="25" name="Shape 22"/>
          <p:cNvSpPr/>
          <p:nvPr/>
        </p:nvSpPr>
        <p:spPr>
          <a:xfrm>
            <a:off x="4754880" y="4617720"/>
            <a:ext cx="73152" cy="347472"/>
          </a:xfrm>
          <a:prstGeom prst="rect">
            <a:avLst/>
          </a:prstGeom>
          <a:solidFill>
            <a:srgbClr val="2563EB"/>
          </a:solidFill>
          <a:ln/>
        </p:spPr>
      </p:sp>
      <p:sp>
        <p:nvSpPr>
          <p:cNvPr id="26" name="Text 23"/>
          <p:cNvSpPr/>
          <p:nvPr/>
        </p:nvSpPr>
        <p:spPr>
          <a:xfrm>
            <a:off x="4892040" y="4617720"/>
            <a:ext cx="3931920" cy="347472"/>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3 Services in DEV: Payment V2, Credit Reporting V2, Guaranty Rehab — in active development sprint.</a:t>
            </a:r>
            <a:endParaRPr lang="en-US" sz="950" dirty="0"/>
          </a:p>
        </p:txBody>
      </p:sp>
      <p:sp>
        <p:nvSpPr>
          <p:cNvPr id="27" name="Shape 24"/>
          <p:cNvSpPr/>
          <p:nvPr/>
        </p:nvSpPr>
        <p:spPr>
          <a:xfrm>
            <a:off x="0" y="4956048"/>
            <a:ext cx="9144000" cy="201168"/>
          </a:xfrm>
          <a:prstGeom prst="rect">
            <a:avLst/>
          </a:prstGeom>
          <a:solidFill>
            <a:srgbClr val="152848"/>
          </a:solidFill>
          <a:ln/>
        </p:spPr>
      </p:sp>
      <p:sp>
        <p:nvSpPr>
          <p:cNvPr id="28" name="Text 25"/>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Q2 2026 — Service Delivery Pipeline</a:t>
            </a:r>
            <a:endParaRPr lang="en-US" sz="2000" dirty="0"/>
          </a:p>
        </p:txBody>
      </p:sp>
      <p:sp>
        <p:nvSpPr>
          <p:cNvPr id="5" name="Shape 3"/>
          <p:cNvSpPr/>
          <p:nvPr/>
        </p:nvSpPr>
        <p:spPr>
          <a:xfrm>
            <a:off x="7315200" y="128016"/>
            <a:ext cx="1554480" cy="402336"/>
          </a:xfrm>
          <a:prstGeom prst="roundRect">
            <a:avLst>
              <a:gd name="adj" fmla="val 13636"/>
            </a:avLst>
          </a:prstGeom>
          <a:solidFill>
            <a:srgbClr val="0D9488"/>
          </a:solidFill>
          <a:ln/>
        </p:spPr>
      </p:sp>
      <p:sp>
        <p:nvSpPr>
          <p:cNvPr id="6" name="Text 4"/>
          <p:cNvSpPr/>
          <p:nvPr/>
        </p:nvSpPr>
        <p:spPr>
          <a:xfrm>
            <a:off x="7315200" y="128016"/>
            <a:ext cx="155448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Services</a:t>
            </a:r>
            <a:endParaRPr lang="en-US" sz="1100" dirty="0"/>
          </a:p>
        </p:txBody>
      </p:sp>
      <p:sp>
        <p:nvSpPr>
          <p:cNvPr id="7" name="Text 5"/>
          <p:cNvSpPr/>
          <p:nvPr/>
        </p:nvSpPr>
        <p:spPr>
          <a:xfrm>
            <a:off x="365760" y="777240"/>
            <a:ext cx="8412480" cy="45720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Six services are targeted for Q2 2026. Three require Enabler Stories as architectural prerequisites, and two carry JMS dependencies that must be resolved at the program level before development can begin.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3200400"/>
                <a:gridCol w="1188720"/>
                <a:gridCol w="1554480"/>
                <a:gridCol w="24688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 Name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Timeline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Dependency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Person Profile Service v3</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JMS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Enabler Story required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Person Contact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Direct Debit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JMS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Enabler Story required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Repayment Schedule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Enabler Story required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Consumer Tax Service v1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IDR Forgiveness Service API V1 (REST)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Q2 2026</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REST API modernization</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6"/>
          <p:cNvSpPr/>
          <p:nvPr/>
        </p:nvSpPr>
        <p:spPr>
          <a:xfrm>
            <a:off x="365760" y="3950208"/>
            <a:ext cx="2743200" cy="896112"/>
          </a:xfrm>
          <a:prstGeom prst="rect">
            <a:avLst/>
          </a:prstGeom>
          <a:solidFill>
            <a:srgbClr val="FEE2E2"/>
          </a:solidFill>
          <a:ln/>
          <a:effectLst>
            <a:outerShdw sx="100000" sy="100000" kx="0" ky="0" algn="bl" rotWithShape="0" blurRad="76200" dist="25400" dir="8100000">
              <a:srgbClr val="000000">
                <a:alpha val="12000"/>
              </a:srgbClr>
            </a:outerShdw>
          </a:effectLst>
        </p:spPr>
      </p:sp>
      <p:sp>
        <p:nvSpPr>
          <p:cNvPr id="10" name="Shape 7"/>
          <p:cNvSpPr/>
          <p:nvPr/>
        </p:nvSpPr>
        <p:spPr>
          <a:xfrm>
            <a:off x="365760" y="3950208"/>
            <a:ext cx="2743200" cy="54864"/>
          </a:xfrm>
          <a:prstGeom prst="rect">
            <a:avLst/>
          </a:prstGeom>
          <a:solidFill>
            <a:srgbClr val="DC2626"/>
          </a:solidFill>
          <a:ln/>
        </p:spPr>
      </p:sp>
      <p:sp>
        <p:nvSpPr>
          <p:cNvPr id="11" name="Text 8"/>
          <p:cNvSpPr/>
          <p:nvPr/>
        </p:nvSpPr>
        <p:spPr>
          <a:xfrm>
            <a:off x="457200" y="4023360"/>
            <a:ext cx="256032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JMS Dependency Risk</a:t>
            </a:r>
            <a:endParaRPr lang="en-US" sz="1100" dirty="0"/>
          </a:p>
        </p:txBody>
      </p:sp>
      <p:sp>
        <p:nvSpPr>
          <p:cNvPr id="12" name="Text 9"/>
          <p:cNvSpPr/>
          <p:nvPr/>
        </p:nvSpPr>
        <p:spPr>
          <a:xfrm>
            <a:off x="457200" y="4315968"/>
            <a:ext cx="2560320" cy="47548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Person Profile v3 and Direct Debit v1 both require JMS modernization before entering active development sprints.</a:t>
            </a:r>
            <a:endParaRPr lang="en-US" sz="950" dirty="0"/>
          </a:p>
        </p:txBody>
      </p:sp>
      <p:sp>
        <p:nvSpPr>
          <p:cNvPr id="13" name="Shape 10"/>
          <p:cNvSpPr/>
          <p:nvPr/>
        </p:nvSpPr>
        <p:spPr>
          <a:xfrm>
            <a:off x="3291840" y="3950208"/>
            <a:ext cx="2743200" cy="896112"/>
          </a:xfrm>
          <a:prstGeom prst="rect">
            <a:avLst/>
          </a:prstGeom>
          <a:solidFill>
            <a:srgbClr val="FEF3C7"/>
          </a:solidFill>
          <a:ln/>
          <a:effectLst>
            <a:outerShdw sx="100000" sy="100000" kx="0" ky="0" algn="bl" rotWithShape="0" blurRad="76200" dist="25400" dir="8100000">
              <a:srgbClr val="000000">
                <a:alpha val="12000"/>
              </a:srgbClr>
            </a:outerShdw>
          </a:effectLst>
        </p:spPr>
      </p:sp>
      <p:sp>
        <p:nvSpPr>
          <p:cNvPr id="14" name="Shape 11"/>
          <p:cNvSpPr/>
          <p:nvPr/>
        </p:nvSpPr>
        <p:spPr>
          <a:xfrm>
            <a:off x="3291840" y="3950208"/>
            <a:ext cx="2743200" cy="54864"/>
          </a:xfrm>
          <a:prstGeom prst="rect">
            <a:avLst/>
          </a:prstGeom>
          <a:solidFill>
            <a:srgbClr val="D97706"/>
          </a:solidFill>
          <a:ln/>
        </p:spPr>
      </p:sp>
      <p:sp>
        <p:nvSpPr>
          <p:cNvPr id="15" name="Text 12"/>
          <p:cNvSpPr/>
          <p:nvPr/>
        </p:nvSpPr>
        <p:spPr>
          <a:xfrm>
            <a:off x="3383280" y="4023360"/>
            <a:ext cx="2560320"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 Enabler Story Prerequisite</a:t>
            </a:r>
            <a:endParaRPr lang="en-US" sz="1100" dirty="0"/>
          </a:p>
        </p:txBody>
      </p:sp>
      <p:sp>
        <p:nvSpPr>
          <p:cNvPr id="16" name="Text 13"/>
          <p:cNvSpPr/>
          <p:nvPr/>
        </p:nvSpPr>
        <p:spPr>
          <a:xfrm>
            <a:off x="3383280" y="4315968"/>
            <a:ext cx="2560320" cy="47548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3 of 6 Q2 services require Enabler Stories. Must be tracked and completed ahead of sprint assignments.</a:t>
            </a:r>
            <a:endParaRPr lang="en-US" sz="950" dirty="0"/>
          </a:p>
        </p:txBody>
      </p:sp>
      <p:sp>
        <p:nvSpPr>
          <p:cNvPr id="17" name="Shape 14"/>
          <p:cNvSpPr/>
          <p:nvPr/>
        </p:nvSpPr>
        <p:spPr>
          <a:xfrm>
            <a:off x="6217920" y="3950208"/>
            <a:ext cx="2743200" cy="896112"/>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8" name="Shape 15"/>
          <p:cNvSpPr/>
          <p:nvPr/>
        </p:nvSpPr>
        <p:spPr>
          <a:xfrm>
            <a:off x="6217920" y="3950208"/>
            <a:ext cx="2743200" cy="54864"/>
          </a:xfrm>
          <a:prstGeom prst="rect">
            <a:avLst/>
          </a:prstGeom>
          <a:solidFill>
            <a:srgbClr val="0D9488"/>
          </a:solidFill>
          <a:ln/>
        </p:spPr>
      </p:sp>
      <p:sp>
        <p:nvSpPr>
          <p:cNvPr id="19" name="Text 16"/>
          <p:cNvSpPr/>
          <p:nvPr/>
        </p:nvSpPr>
        <p:spPr>
          <a:xfrm>
            <a:off x="6309360" y="4023360"/>
            <a:ext cx="2560320" cy="27432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REST API Modernization</a:t>
            </a:r>
            <a:endParaRPr lang="en-US" sz="1100" dirty="0"/>
          </a:p>
        </p:txBody>
      </p:sp>
      <p:sp>
        <p:nvSpPr>
          <p:cNvPr id="20" name="Text 17"/>
          <p:cNvSpPr/>
          <p:nvPr/>
        </p:nvSpPr>
        <p:spPr>
          <a:xfrm>
            <a:off x="6309360" y="4315968"/>
            <a:ext cx="2560320" cy="47548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IDR Forgiveness API V1 is a key REST modernization milestone, transitioning legacy interfaces to modern standards.</a:t>
            </a:r>
            <a:endParaRPr lang="en-US" sz="950" dirty="0"/>
          </a:p>
        </p:txBody>
      </p:sp>
      <p:sp>
        <p:nvSpPr>
          <p:cNvPr id="21" name="Shape 18"/>
          <p:cNvSpPr/>
          <p:nvPr/>
        </p:nvSpPr>
        <p:spPr>
          <a:xfrm>
            <a:off x="0" y="4956048"/>
            <a:ext cx="9144000" cy="201168"/>
          </a:xfrm>
          <a:prstGeom prst="rect">
            <a:avLst/>
          </a:prstGeom>
          <a:solidFill>
            <a:srgbClr val="152848"/>
          </a:solidFill>
          <a:ln/>
        </p:spPr>
      </p:sp>
      <p:sp>
        <p:nvSpPr>
          <p:cNvPr id="22" name="Text 19"/>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Q3 / Q4 2026 — Service Delivery Pipeline</a:t>
            </a:r>
            <a:endParaRPr lang="en-US" sz="2000" dirty="0"/>
          </a:p>
        </p:txBody>
      </p:sp>
      <p:sp>
        <p:nvSpPr>
          <p:cNvPr id="5" name="Shape 3"/>
          <p:cNvSpPr/>
          <p:nvPr/>
        </p:nvSpPr>
        <p:spPr>
          <a:xfrm>
            <a:off x="7315200" y="128016"/>
            <a:ext cx="1554480" cy="402336"/>
          </a:xfrm>
          <a:prstGeom prst="roundRect">
            <a:avLst>
              <a:gd name="adj" fmla="val 13636"/>
            </a:avLst>
          </a:prstGeom>
          <a:solidFill>
            <a:srgbClr val="D97706"/>
          </a:solidFill>
          <a:ln/>
        </p:spPr>
      </p:sp>
      <p:sp>
        <p:nvSpPr>
          <p:cNvPr id="6" name="Text 4"/>
          <p:cNvSpPr/>
          <p:nvPr/>
        </p:nvSpPr>
        <p:spPr>
          <a:xfrm>
            <a:off x="7315200" y="128016"/>
            <a:ext cx="155448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Services</a:t>
            </a:r>
            <a:endParaRPr lang="en-US" sz="1100" dirty="0"/>
          </a:p>
        </p:txBody>
      </p:sp>
      <p:sp>
        <p:nvSpPr>
          <p:cNvPr id="7" name="Text 5"/>
          <p:cNvSpPr/>
          <p:nvPr/>
        </p:nvSpPr>
        <p:spPr>
          <a:xfrm>
            <a:off x="365760" y="777240"/>
            <a:ext cx="8412480" cy="45720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Four services are targeted for Q3/Q4 2026 delivery. All four carry JMS dependencies and require Enabler Stories — making JMS modernization the single most critical program-level prerequisite for this phase.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3200400"/>
                <a:gridCol w="1371600"/>
                <a:gridCol w="1920240"/>
                <a:gridCol w="19202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 Name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Timeline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Dependency</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1B3E"/>
                    </a:solidFill>
                  </a:tcPr>
                </a:tc>
              </a:tr>
              <a:tr h="438912">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Person Profile Service v4</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Q3/Q4 2026</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JMS</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Enabler Story required</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Loan Management Service v1</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Q3/Q4 2026</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JMS</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Enabler Story required</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Financial Management Service V2</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Q3/Q4 2026</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JMS</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Enabler Story required</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Activity Service v2</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Q3/Q4 2026</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JMS over SOAP</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Enabler Story required</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6"/>
          <p:cNvSpPr/>
          <p:nvPr/>
        </p:nvSpPr>
        <p:spPr>
          <a:xfrm>
            <a:off x="365760" y="3493008"/>
            <a:ext cx="8412480" cy="640080"/>
          </a:xfrm>
          <a:prstGeom prst="rect">
            <a:avLst/>
          </a:prstGeom>
          <a:solidFill>
            <a:srgbClr val="FEE2E2"/>
          </a:solidFill>
          <a:ln/>
          <a:effectLst>
            <a:outerShdw sx="100000" sy="100000" kx="0" ky="0" algn="bl" rotWithShape="0" blurRad="76200" dist="25400" dir="8100000">
              <a:srgbClr val="000000">
                <a:alpha val="12000"/>
              </a:srgbClr>
            </a:outerShdw>
          </a:effectLst>
        </p:spPr>
      </p:sp>
      <p:sp>
        <p:nvSpPr>
          <p:cNvPr id="10" name="Shape 7"/>
          <p:cNvSpPr/>
          <p:nvPr/>
        </p:nvSpPr>
        <p:spPr>
          <a:xfrm>
            <a:off x="365760" y="3493008"/>
            <a:ext cx="91440" cy="640080"/>
          </a:xfrm>
          <a:prstGeom prst="rect">
            <a:avLst/>
          </a:prstGeom>
          <a:solidFill>
            <a:srgbClr val="DC2626"/>
          </a:solidFill>
          <a:ln/>
        </p:spPr>
      </p:sp>
      <p:sp>
        <p:nvSpPr>
          <p:cNvPr id="11" name="Text 8"/>
          <p:cNvSpPr/>
          <p:nvPr/>
        </p:nvSpPr>
        <p:spPr>
          <a:xfrm>
            <a:off x="548640" y="3529584"/>
            <a:ext cx="146304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Critical Note:</a:t>
            </a:r>
            <a:endParaRPr lang="en-US" sz="1100" dirty="0"/>
          </a:p>
        </p:txBody>
      </p:sp>
      <p:sp>
        <p:nvSpPr>
          <p:cNvPr id="12" name="Text 9"/>
          <p:cNvSpPr/>
          <p:nvPr/>
        </p:nvSpPr>
        <p:spPr>
          <a:xfrm>
            <a:off x="548640" y="3794760"/>
            <a:ext cx="8092440"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All Q3/Q4 services have JMS dependencies and require Enabler Stories to be completed first. Activity Service v2 additionally depends on JMS over SOAP — the most complex integration pattern in the roadmap. Sprint assignments will be locked following Enabler Story completion.</a:t>
            </a:r>
            <a:endParaRPr lang="en-US" sz="1000" dirty="0"/>
          </a:p>
        </p:txBody>
      </p:sp>
      <p:sp>
        <p:nvSpPr>
          <p:cNvPr id="13" name="Shape 10"/>
          <p:cNvSpPr/>
          <p:nvPr/>
        </p:nvSpPr>
        <p:spPr>
          <a:xfrm>
            <a:off x="365760" y="4315968"/>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365760" y="4315968"/>
            <a:ext cx="1965960" cy="54864"/>
          </a:xfrm>
          <a:prstGeom prst="rect">
            <a:avLst/>
          </a:prstGeom>
          <a:solidFill>
            <a:srgbClr val="D97706"/>
          </a:solidFill>
          <a:ln/>
        </p:spPr>
      </p:sp>
      <p:sp>
        <p:nvSpPr>
          <p:cNvPr id="15" name="Text 12"/>
          <p:cNvSpPr/>
          <p:nvPr/>
        </p:nvSpPr>
        <p:spPr>
          <a:xfrm>
            <a:off x="365760" y="4370832"/>
            <a:ext cx="1965960" cy="347472"/>
          </a:xfrm>
          <a:prstGeom prst="rect">
            <a:avLst/>
          </a:prstGeom>
          <a:noFill/>
          <a:ln/>
        </p:spPr>
        <p:txBody>
          <a:bodyPr wrap="square"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Person Profile</a:t>
            </a:r>
            <a:endParaRPr lang="en-US" sz="950" dirty="0"/>
          </a:p>
          <a:p>
            <a:pPr algn="ctr" indent="0" marL="0">
              <a:buNone/>
            </a:pPr>
            <a:r>
              <a:rPr lang="en-US" sz="950" b="1" dirty="0">
                <a:solidFill>
                  <a:srgbClr val="0D1B3E"/>
                </a:solidFill>
                <a:latin typeface="Calibri" pitchFamily="34" charset="0"/>
                <a:ea typeface="Calibri" pitchFamily="34" charset="-122"/>
                <a:cs typeface="Calibri" pitchFamily="34" charset="-120"/>
              </a:rPr>
              <a:t>Service v4</a:t>
            </a:r>
            <a:endParaRPr lang="en-US" sz="950" dirty="0"/>
          </a:p>
        </p:txBody>
      </p:sp>
      <p:sp>
        <p:nvSpPr>
          <p:cNvPr id="16" name="Text 13"/>
          <p:cNvSpPr/>
          <p:nvPr/>
        </p:nvSpPr>
        <p:spPr>
          <a:xfrm>
            <a:off x="365760" y="4718304"/>
            <a:ext cx="1965960" cy="201168"/>
          </a:xfrm>
          <a:prstGeom prst="rect">
            <a:avLst/>
          </a:prstGeom>
          <a:noFill/>
          <a:ln/>
        </p:spPr>
        <p:txBody>
          <a:bodyPr wrap="square" rtlCol="0" anchor="ctr"/>
          <a:lstStyle/>
          <a:p>
            <a:pPr algn="ctr" indent="0" marL="0">
              <a:buNone/>
            </a:pPr>
            <a:r>
              <a:rPr lang="en-US" sz="900" b="1" dirty="0">
                <a:solidFill>
                  <a:srgbClr val="DC2626"/>
                </a:solidFill>
                <a:latin typeface="Calibri" pitchFamily="34" charset="0"/>
                <a:ea typeface="Calibri" pitchFamily="34" charset="-122"/>
                <a:cs typeface="Calibri" pitchFamily="34" charset="-120"/>
              </a:rPr>
              <a:t>JMS</a:t>
            </a:r>
            <a:endParaRPr lang="en-US" sz="900" dirty="0"/>
          </a:p>
        </p:txBody>
      </p:sp>
      <p:sp>
        <p:nvSpPr>
          <p:cNvPr id="17" name="Shape 14"/>
          <p:cNvSpPr/>
          <p:nvPr/>
        </p:nvSpPr>
        <p:spPr>
          <a:xfrm>
            <a:off x="2514600" y="4315968"/>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2514600" y="4315968"/>
            <a:ext cx="1965960" cy="54864"/>
          </a:xfrm>
          <a:prstGeom prst="rect">
            <a:avLst/>
          </a:prstGeom>
          <a:solidFill>
            <a:srgbClr val="D97706"/>
          </a:solidFill>
          <a:ln/>
        </p:spPr>
      </p:sp>
      <p:sp>
        <p:nvSpPr>
          <p:cNvPr id="19" name="Text 16"/>
          <p:cNvSpPr/>
          <p:nvPr/>
        </p:nvSpPr>
        <p:spPr>
          <a:xfrm>
            <a:off x="2514600" y="4370832"/>
            <a:ext cx="1965960" cy="347472"/>
          </a:xfrm>
          <a:prstGeom prst="rect">
            <a:avLst/>
          </a:prstGeom>
          <a:noFill/>
          <a:ln/>
        </p:spPr>
        <p:txBody>
          <a:bodyPr wrap="square"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Loan Management</a:t>
            </a:r>
            <a:endParaRPr lang="en-US" sz="950" dirty="0"/>
          </a:p>
          <a:p>
            <a:pPr algn="ctr" indent="0" marL="0">
              <a:buNone/>
            </a:pPr>
            <a:r>
              <a:rPr lang="en-US" sz="950" b="1" dirty="0">
                <a:solidFill>
                  <a:srgbClr val="0D1B3E"/>
                </a:solidFill>
                <a:latin typeface="Calibri" pitchFamily="34" charset="0"/>
                <a:ea typeface="Calibri" pitchFamily="34" charset="-122"/>
                <a:cs typeface="Calibri" pitchFamily="34" charset="-120"/>
              </a:rPr>
              <a:t>Service v1</a:t>
            </a:r>
            <a:endParaRPr lang="en-US" sz="950" dirty="0"/>
          </a:p>
        </p:txBody>
      </p:sp>
      <p:sp>
        <p:nvSpPr>
          <p:cNvPr id="20" name="Text 17"/>
          <p:cNvSpPr/>
          <p:nvPr/>
        </p:nvSpPr>
        <p:spPr>
          <a:xfrm>
            <a:off x="2514600" y="4718304"/>
            <a:ext cx="1965960" cy="201168"/>
          </a:xfrm>
          <a:prstGeom prst="rect">
            <a:avLst/>
          </a:prstGeom>
          <a:noFill/>
          <a:ln/>
        </p:spPr>
        <p:txBody>
          <a:bodyPr wrap="square" rtlCol="0" anchor="ctr"/>
          <a:lstStyle/>
          <a:p>
            <a:pPr algn="ctr" indent="0" marL="0">
              <a:buNone/>
            </a:pPr>
            <a:r>
              <a:rPr lang="en-US" sz="900" b="1" dirty="0">
                <a:solidFill>
                  <a:srgbClr val="DC2626"/>
                </a:solidFill>
                <a:latin typeface="Calibri" pitchFamily="34" charset="0"/>
                <a:ea typeface="Calibri" pitchFamily="34" charset="-122"/>
                <a:cs typeface="Calibri" pitchFamily="34" charset="-120"/>
              </a:rPr>
              <a:t>JMS</a:t>
            </a:r>
            <a:endParaRPr lang="en-US" sz="900" dirty="0"/>
          </a:p>
        </p:txBody>
      </p:sp>
      <p:sp>
        <p:nvSpPr>
          <p:cNvPr id="21" name="Shape 18"/>
          <p:cNvSpPr/>
          <p:nvPr/>
        </p:nvSpPr>
        <p:spPr>
          <a:xfrm>
            <a:off x="4663440" y="4315968"/>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4663440" y="4315968"/>
            <a:ext cx="1965960" cy="54864"/>
          </a:xfrm>
          <a:prstGeom prst="rect">
            <a:avLst/>
          </a:prstGeom>
          <a:solidFill>
            <a:srgbClr val="D97706"/>
          </a:solidFill>
          <a:ln/>
        </p:spPr>
      </p:sp>
      <p:sp>
        <p:nvSpPr>
          <p:cNvPr id="23" name="Text 20"/>
          <p:cNvSpPr/>
          <p:nvPr/>
        </p:nvSpPr>
        <p:spPr>
          <a:xfrm>
            <a:off x="4663440" y="4370832"/>
            <a:ext cx="1965960" cy="347472"/>
          </a:xfrm>
          <a:prstGeom prst="rect">
            <a:avLst/>
          </a:prstGeom>
          <a:noFill/>
          <a:ln/>
        </p:spPr>
        <p:txBody>
          <a:bodyPr wrap="square"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Financial Mgmt</a:t>
            </a:r>
            <a:endParaRPr lang="en-US" sz="950" dirty="0"/>
          </a:p>
          <a:p>
            <a:pPr algn="ctr" indent="0" marL="0">
              <a:buNone/>
            </a:pPr>
            <a:r>
              <a:rPr lang="en-US" sz="950" b="1" dirty="0">
                <a:solidFill>
                  <a:srgbClr val="0D1B3E"/>
                </a:solidFill>
                <a:latin typeface="Calibri" pitchFamily="34" charset="0"/>
                <a:ea typeface="Calibri" pitchFamily="34" charset="-122"/>
                <a:cs typeface="Calibri" pitchFamily="34" charset="-120"/>
              </a:rPr>
              <a:t>Service V2</a:t>
            </a:r>
            <a:endParaRPr lang="en-US" sz="950" dirty="0"/>
          </a:p>
        </p:txBody>
      </p:sp>
      <p:sp>
        <p:nvSpPr>
          <p:cNvPr id="24" name="Text 21"/>
          <p:cNvSpPr/>
          <p:nvPr/>
        </p:nvSpPr>
        <p:spPr>
          <a:xfrm>
            <a:off x="4663440" y="4718304"/>
            <a:ext cx="1965960" cy="201168"/>
          </a:xfrm>
          <a:prstGeom prst="rect">
            <a:avLst/>
          </a:prstGeom>
          <a:noFill/>
          <a:ln/>
        </p:spPr>
        <p:txBody>
          <a:bodyPr wrap="square" rtlCol="0" anchor="ctr"/>
          <a:lstStyle/>
          <a:p>
            <a:pPr algn="ctr" indent="0" marL="0">
              <a:buNone/>
            </a:pPr>
            <a:r>
              <a:rPr lang="en-US" sz="900" b="1" dirty="0">
                <a:solidFill>
                  <a:srgbClr val="DC2626"/>
                </a:solidFill>
                <a:latin typeface="Calibri" pitchFamily="34" charset="0"/>
                <a:ea typeface="Calibri" pitchFamily="34" charset="-122"/>
                <a:cs typeface="Calibri" pitchFamily="34" charset="-120"/>
              </a:rPr>
              <a:t>JMS</a:t>
            </a:r>
            <a:endParaRPr lang="en-US" sz="900" dirty="0"/>
          </a:p>
        </p:txBody>
      </p:sp>
      <p:sp>
        <p:nvSpPr>
          <p:cNvPr id="25" name="Shape 22"/>
          <p:cNvSpPr/>
          <p:nvPr/>
        </p:nvSpPr>
        <p:spPr>
          <a:xfrm>
            <a:off x="6812280" y="4315968"/>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3"/>
          <p:cNvSpPr/>
          <p:nvPr/>
        </p:nvSpPr>
        <p:spPr>
          <a:xfrm>
            <a:off x="6812280" y="4315968"/>
            <a:ext cx="1965960" cy="54864"/>
          </a:xfrm>
          <a:prstGeom prst="rect">
            <a:avLst/>
          </a:prstGeom>
          <a:solidFill>
            <a:srgbClr val="D97706"/>
          </a:solidFill>
          <a:ln/>
        </p:spPr>
      </p:sp>
      <p:sp>
        <p:nvSpPr>
          <p:cNvPr id="27" name="Text 24"/>
          <p:cNvSpPr/>
          <p:nvPr/>
        </p:nvSpPr>
        <p:spPr>
          <a:xfrm>
            <a:off x="6812280" y="4370832"/>
            <a:ext cx="1965960" cy="347472"/>
          </a:xfrm>
          <a:prstGeom prst="rect">
            <a:avLst/>
          </a:prstGeom>
          <a:noFill/>
          <a:ln/>
        </p:spPr>
        <p:txBody>
          <a:bodyPr wrap="square"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Activity</a:t>
            </a:r>
            <a:endParaRPr lang="en-US" sz="950" dirty="0"/>
          </a:p>
          <a:p>
            <a:pPr algn="ctr" indent="0" marL="0">
              <a:buNone/>
            </a:pPr>
            <a:r>
              <a:rPr lang="en-US" sz="950" b="1" dirty="0">
                <a:solidFill>
                  <a:srgbClr val="0D1B3E"/>
                </a:solidFill>
                <a:latin typeface="Calibri" pitchFamily="34" charset="0"/>
                <a:ea typeface="Calibri" pitchFamily="34" charset="-122"/>
                <a:cs typeface="Calibri" pitchFamily="34" charset="-120"/>
              </a:rPr>
              <a:t>Service v2</a:t>
            </a:r>
            <a:endParaRPr lang="en-US" sz="950" dirty="0"/>
          </a:p>
        </p:txBody>
      </p:sp>
      <p:sp>
        <p:nvSpPr>
          <p:cNvPr id="28" name="Text 25"/>
          <p:cNvSpPr/>
          <p:nvPr/>
        </p:nvSpPr>
        <p:spPr>
          <a:xfrm>
            <a:off x="6812280" y="4718304"/>
            <a:ext cx="1965960" cy="201168"/>
          </a:xfrm>
          <a:prstGeom prst="rect">
            <a:avLst/>
          </a:prstGeom>
          <a:noFill/>
          <a:ln/>
        </p:spPr>
        <p:txBody>
          <a:bodyPr wrap="square" rtlCol="0" anchor="ctr"/>
          <a:lstStyle/>
          <a:p>
            <a:pPr algn="ctr" indent="0" marL="0">
              <a:buNone/>
            </a:pPr>
            <a:r>
              <a:rPr lang="en-US" sz="900" b="1" dirty="0">
                <a:solidFill>
                  <a:srgbClr val="DC2626"/>
                </a:solidFill>
                <a:latin typeface="Calibri" pitchFamily="34" charset="0"/>
                <a:ea typeface="Calibri" pitchFamily="34" charset="-122"/>
                <a:cs typeface="Calibri" pitchFamily="34" charset="-120"/>
              </a:rPr>
              <a:t>JMS over SOAP</a:t>
            </a:r>
            <a:endParaRPr lang="en-US" sz="900" dirty="0"/>
          </a:p>
        </p:txBody>
      </p:sp>
      <p:sp>
        <p:nvSpPr>
          <p:cNvPr id="29" name="Shape 26"/>
          <p:cNvSpPr/>
          <p:nvPr/>
        </p:nvSpPr>
        <p:spPr>
          <a:xfrm>
            <a:off x="0" y="4956048"/>
            <a:ext cx="9144000" cy="201168"/>
          </a:xfrm>
          <a:prstGeom prst="rect">
            <a:avLst/>
          </a:prstGeom>
          <a:solidFill>
            <a:srgbClr val="152848"/>
          </a:solidFill>
          <a:ln/>
        </p:spPr>
      </p:sp>
      <p:sp>
        <p:nvSpPr>
          <p:cNvPr id="30" name="Text 27"/>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Dependency Risk Map — Risk Management</a:t>
            </a:r>
            <a:endParaRPr lang="en-US" sz="2000" dirty="0"/>
          </a:p>
        </p:txBody>
      </p:sp>
      <p:sp>
        <p:nvSpPr>
          <p:cNvPr id="5" name="Text 3"/>
          <p:cNvSpPr/>
          <p:nvPr/>
        </p:nvSpPr>
        <p:spPr>
          <a:xfrm>
            <a:off x="365760" y="777240"/>
            <a:ext cx="841248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Understanding and resolving dependencies is the single most important factor in on-time delivery. Four distinct dependency categories identified across the 20-service roadmap.</a:t>
            </a:r>
            <a:endParaRPr lang="en-US" sz="1200" dirty="0"/>
          </a:p>
        </p:txBody>
      </p:sp>
      <p:sp>
        <p:nvSpPr>
          <p:cNvPr id="6" name="Shape 4"/>
          <p:cNvSpPr/>
          <p:nvPr/>
        </p:nvSpPr>
        <p:spPr>
          <a:xfrm>
            <a:off x="365760" y="1353312"/>
            <a:ext cx="4114800" cy="1508760"/>
          </a:xfrm>
          <a:prstGeom prst="rect">
            <a:avLst/>
          </a:prstGeom>
          <a:solidFill>
            <a:srgbClr val="FEE2E2"/>
          </a:solidFill>
          <a:ln/>
          <a:effectLst>
            <a:outerShdw sx="100000" sy="100000" kx="0" ky="0" algn="bl" rotWithShape="0" blurRad="76200" dist="25400" dir="8100000">
              <a:srgbClr val="000000">
                <a:alpha val="12000"/>
              </a:srgbClr>
            </a:outerShdw>
          </a:effectLst>
        </p:spPr>
      </p:sp>
      <p:sp>
        <p:nvSpPr>
          <p:cNvPr id="7" name="Shape 5"/>
          <p:cNvSpPr/>
          <p:nvPr/>
        </p:nvSpPr>
        <p:spPr>
          <a:xfrm>
            <a:off x="365760" y="1353312"/>
            <a:ext cx="4114800" cy="64008"/>
          </a:xfrm>
          <a:prstGeom prst="rect">
            <a:avLst/>
          </a:prstGeom>
          <a:solidFill>
            <a:srgbClr val="DC2626"/>
          </a:solidFill>
          <a:ln/>
        </p:spPr>
      </p:sp>
      <p:sp>
        <p:nvSpPr>
          <p:cNvPr id="8" name="Shape 6"/>
          <p:cNvSpPr/>
          <p:nvPr/>
        </p:nvSpPr>
        <p:spPr>
          <a:xfrm>
            <a:off x="502920" y="1517904"/>
            <a:ext cx="384048" cy="384048"/>
          </a:xfrm>
          <a:prstGeom prst="ellipse">
            <a:avLst/>
          </a:prstGeom>
          <a:solidFill>
            <a:srgbClr val="DC2626"/>
          </a:solidFill>
          <a:ln/>
        </p:spPr>
      </p:sp>
      <p:sp>
        <p:nvSpPr>
          <p:cNvPr id="9" name="Text 7"/>
          <p:cNvSpPr/>
          <p:nvPr/>
        </p:nvSpPr>
        <p:spPr>
          <a:xfrm>
            <a:off x="502920" y="15179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960120" y="1490472"/>
            <a:ext cx="3429000" cy="34747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JMS — Java Message Service</a:t>
            </a:r>
            <a:endParaRPr lang="en-US" sz="1200" dirty="0"/>
          </a:p>
        </p:txBody>
      </p:sp>
      <p:sp>
        <p:nvSpPr>
          <p:cNvPr id="11" name="Text 9"/>
          <p:cNvSpPr/>
          <p:nvPr/>
        </p:nvSpPr>
        <p:spPr>
          <a:xfrm>
            <a:off x="548640" y="1920240"/>
            <a:ext cx="384048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6 services depend on JMS modernization across Q2 and Q3/Q4 phases. Program-level critical path item. Ownership and timeline must be confirmed immediately.</a:t>
            </a:r>
            <a:endParaRPr lang="en-US" sz="1000" dirty="0"/>
          </a:p>
        </p:txBody>
      </p:sp>
      <p:sp>
        <p:nvSpPr>
          <p:cNvPr id="12" name="Shape 10"/>
          <p:cNvSpPr/>
          <p:nvPr/>
        </p:nvSpPr>
        <p:spPr>
          <a:xfrm>
            <a:off x="365760" y="2999232"/>
            <a:ext cx="4114800" cy="1508760"/>
          </a:xfrm>
          <a:prstGeom prst="rect">
            <a:avLst/>
          </a:prstGeom>
          <a:solidFill>
            <a:srgbClr val="FEF3C7"/>
          </a:solidFill>
          <a:ln/>
          <a:effectLst>
            <a:outerShdw sx="100000" sy="100000" kx="0" ky="0" algn="bl" rotWithShape="0" blurRad="76200" dist="25400" dir="8100000">
              <a:srgbClr val="000000">
                <a:alpha val="12000"/>
              </a:srgbClr>
            </a:outerShdw>
          </a:effectLst>
        </p:spPr>
      </p:sp>
      <p:sp>
        <p:nvSpPr>
          <p:cNvPr id="13" name="Shape 11"/>
          <p:cNvSpPr/>
          <p:nvPr/>
        </p:nvSpPr>
        <p:spPr>
          <a:xfrm>
            <a:off x="365760" y="2999232"/>
            <a:ext cx="4114800" cy="64008"/>
          </a:xfrm>
          <a:prstGeom prst="rect">
            <a:avLst/>
          </a:prstGeom>
          <a:solidFill>
            <a:srgbClr val="D97706"/>
          </a:solidFill>
          <a:ln/>
        </p:spPr>
      </p:sp>
      <p:sp>
        <p:nvSpPr>
          <p:cNvPr id="14" name="Shape 12"/>
          <p:cNvSpPr/>
          <p:nvPr/>
        </p:nvSpPr>
        <p:spPr>
          <a:xfrm>
            <a:off x="502920" y="3163824"/>
            <a:ext cx="384048" cy="384048"/>
          </a:xfrm>
          <a:prstGeom prst="ellipse">
            <a:avLst/>
          </a:prstGeom>
          <a:solidFill>
            <a:srgbClr val="D97706"/>
          </a:solidFill>
          <a:ln/>
        </p:spPr>
      </p:sp>
      <p:sp>
        <p:nvSpPr>
          <p:cNvPr id="15" name="Text 13"/>
          <p:cNvSpPr/>
          <p:nvPr/>
        </p:nvSpPr>
        <p:spPr>
          <a:xfrm>
            <a:off x="502920" y="316382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960120" y="3136392"/>
            <a:ext cx="3429000" cy="34747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Older EJB — Legacy Dependency</a:t>
            </a:r>
            <a:endParaRPr lang="en-US" sz="1200" dirty="0"/>
          </a:p>
        </p:txBody>
      </p:sp>
      <p:sp>
        <p:nvSpPr>
          <p:cNvPr id="17" name="Text 15"/>
          <p:cNvSpPr/>
          <p:nvPr/>
        </p:nvSpPr>
        <p:spPr>
          <a:xfrm>
            <a:off x="548640" y="3566160"/>
            <a:ext cx="384048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Loan Default Service V1 carries a legacy EJB dependency. Migration planning required to unblock QA progression. Isolated risk, must be tracked actively in Q1.</a:t>
            </a:r>
            <a:endParaRPr lang="en-US" sz="1000" dirty="0"/>
          </a:p>
        </p:txBody>
      </p:sp>
      <p:sp>
        <p:nvSpPr>
          <p:cNvPr id="18" name="Shape 16"/>
          <p:cNvSpPr/>
          <p:nvPr/>
        </p:nvSpPr>
        <p:spPr>
          <a:xfrm>
            <a:off x="4709160" y="1353312"/>
            <a:ext cx="4114800" cy="1508760"/>
          </a:xfrm>
          <a:prstGeom prst="rect">
            <a:avLst/>
          </a:prstGeom>
          <a:solidFill>
            <a:srgbClr val="DBEAFE"/>
          </a:solidFill>
          <a:ln/>
          <a:effectLst>
            <a:outerShdw sx="100000" sy="100000" kx="0" ky="0" algn="bl" rotWithShape="0" blurRad="76200" dist="25400" dir="8100000">
              <a:srgbClr val="000000">
                <a:alpha val="12000"/>
              </a:srgbClr>
            </a:outerShdw>
          </a:effectLst>
        </p:spPr>
      </p:sp>
      <p:sp>
        <p:nvSpPr>
          <p:cNvPr id="19" name="Shape 17"/>
          <p:cNvSpPr/>
          <p:nvPr/>
        </p:nvSpPr>
        <p:spPr>
          <a:xfrm>
            <a:off x="4709160" y="1353312"/>
            <a:ext cx="4114800" cy="64008"/>
          </a:xfrm>
          <a:prstGeom prst="rect">
            <a:avLst/>
          </a:prstGeom>
          <a:solidFill>
            <a:srgbClr val="2563EB"/>
          </a:solidFill>
          <a:ln/>
        </p:spPr>
      </p:sp>
      <p:sp>
        <p:nvSpPr>
          <p:cNvPr id="20" name="Shape 18"/>
          <p:cNvSpPr/>
          <p:nvPr/>
        </p:nvSpPr>
        <p:spPr>
          <a:xfrm>
            <a:off x="4846320" y="1517904"/>
            <a:ext cx="384048" cy="384048"/>
          </a:xfrm>
          <a:prstGeom prst="ellipse">
            <a:avLst/>
          </a:prstGeom>
          <a:solidFill>
            <a:srgbClr val="2563EB"/>
          </a:solidFill>
          <a:ln/>
        </p:spPr>
      </p:sp>
      <p:sp>
        <p:nvSpPr>
          <p:cNvPr id="21" name="Text 19"/>
          <p:cNvSpPr/>
          <p:nvPr/>
        </p:nvSpPr>
        <p:spPr>
          <a:xfrm>
            <a:off x="4846320" y="15179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5303520" y="1490472"/>
            <a:ext cx="3429000" cy="34747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External System Integration</a:t>
            </a:r>
            <a:endParaRPr lang="en-US" sz="1200" dirty="0"/>
          </a:p>
        </p:txBody>
      </p:sp>
      <p:sp>
        <p:nvSpPr>
          <p:cNvPr id="23" name="Text 21"/>
          <p:cNvSpPr/>
          <p:nvPr/>
        </p:nvSpPr>
        <p:spPr>
          <a:xfrm>
            <a:off x="4892040" y="1920240"/>
            <a:ext cx="384048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Credit Reporting Service V2 relies on an external system integration. Enabler Story required; escalation to leadership recommended to confirm and contract the dependency.</a:t>
            </a:r>
            <a:endParaRPr lang="en-US" sz="1000" dirty="0"/>
          </a:p>
        </p:txBody>
      </p:sp>
      <p:sp>
        <p:nvSpPr>
          <p:cNvPr id="24" name="Shape 22"/>
          <p:cNvSpPr/>
          <p:nvPr/>
        </p:nvSpPr>
        <p:spPr>
          <a:xfrm>
            <a:off x="4709160" y="2999232"/>
            <a:ext cx="4114800" cy="150876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25" name="Shape 23"/>
          <p:cNvSpPr/>
          <p:nvPr/>
        </p:nvSpPr>
        <p:spPr>
          <a:xfrm>
            <a:off x="4709160" y="2999232"/>
            <a:ext cx="4114800" cy="64008"/>
          </a:xfrm>
          <a:prstGeom prst="rect">
            <a:avLst/>
          </a:prstGeom>
          <a:solidFill>
            <a:srgbClr val="0D9488"/>
          </a:solidFill>
          <a:ln/>
        </p:spPr>
      </p:sp>
      <p:sp>
        <p:nvSpPr>
          <p:cNvPr id="26" name="Shape 24"/>
          <p:cNvSpPr/>
          <p:nvPr/>
        </p:nvSpPr>
        <p:spPr>
          <a:xfrm>
            <a:off x="4846320" y="3163824"/>
            <a:ext cx="384048" cy="384048"/>
          </a:xfrm>
          <a:prstGeom prst="ellipse">
            <a:avLst/>
          </a:prstGeom>
          <a:solidFill>
            <a:srgbClr val="0D9488"/>
          </a:solidFill>
          <a:ln/>
        </p:spPr>
      </p:sp>
      <p:sp>
        <p:nvSpPr>
          <p:cNvPr id="27" name="Text 25"/>
          <p:cNvSpPr/>
          <p:nvPr/>
        </p:nvSpPr>
        <p:spPr>
          <a:xfrm>
            <a:off x="4846320" y="316382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5303520" y="3136392"/>
            <a:ext cx="3429000" cy="34747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 Enabler Stories — Architectural Prereqs</a:t>
            </a:r>
            <a:endParaRPr lang="en-US" sz="1200" dirty="0"/>
          </a:p>
        </p:txBody>
      </p:sp>
      <p:sp>
        <p:nvSpPr>
          <p:cNvPr id="29" name="Text 27"/>
          <p:cNvSpPr/>
          <p:nvPr/>
        </p:nvSpPr>
        <p:spPr>
          <a:xfrm>
            <a:off x="4892040" y="3566160"/>
            <a:ext cx="384048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9 of 20 services require Enabler Stories before active development. These are architectural prerequisites and must be prioritized to avoid cascading delivery delays.</a:t>
            </a:r>
            <a:endParaRPr lang="en-US" sz="1000" dirty="0"/>
          </a:p>
        </p:txBody>
      </p:sp>
      <p:sp>
        <p:nvSpPr>
          <p:cNvPr id="30" name="Shape 28"/>
          <p:cNvSpPr/>
          <p:nvPr/>
        </p:nvSpPr>
        <p:spPr>
          <a:xfrm>
            <a:off x="914400" y="4645152"/>
            <a:ext cx="2331720" cy="329184"/>
          </a:xfrm>
          <a:prstGeom prst="rect">
            <a:avLst/>
          </a:prstGeom>
          <a:solidFill>
            <a:srgbClr val="0D1B3E"/>
          </a:solidFill>
          <a:ln/>
          <a:effectLst>
            <a:outerShdw sx="100000" sy="100000" kx="0" ky="0" algn="bl" rotWithShape="0" blurRad="76200" dist="25400" dir="8100000">
              <a:srgbClr val="000000">
                <a:alpha val="12000"/>
              </a:srgbClr>
            </a:outerShdw>
          </a:effectLst>
        </p:spPr>
      </p:sp>
      <p:sp>
        <p:nvSpPr>
          <p:cNvPr id="31" name="Text 29"/>
          <p:cNvSpPr/>
          <p:nvPr/>
        </p:nvSpPr>
        <p:spPr>
          <a:xfrm>
            <a:off x="914400" y="4645152"/>
            <a:ext cx="2331720" cy="329184"/>
          </a:xfrm>
          <a:prstGeom prst="rect">
            <a:avLst/>
          </a:prstGeom>
          <a:noFill/>
          <a:ln/>
        </p:spPr>
        <p:txBody>
          <a:bodyPr wrap="square" rtlCol="0" anchor="ctr"/>
          <a:lstStyle/>
          <a:p>
            <a:pPr algn="ctr" indent="0" marL="0">
              <a:buNone/>
            </a:pPr>
            <a:r>
              <a:rPr lang="en-US" sz="950" b="1" dirty="0">
                <a:solidFill>
                  <a:srgbClr val="0D9488"/>
                </a:solidFill>
                <a:latin typeface="Calibri" pitchFamily="34" charset="0"/>
                <a:ea typeface="Calibri" pitchFamily="34" charset="-122"/>
                <a:cs typeface="Calibri" pitchFamily="34" charset="-120"/>
              </a:rPr>
              <a:t>45%  Enabler Dependency  (9 of 20 services)</a:t>
            </a:r>
            <a:endParaRPr lang="en-US" sz="950" dirty="0"/>
          </a:p>
        </p:txBody>
      </p:sp>
      <p:sp>
        <p:nvSpPr>
          <p:cNvPr id="32" name="Shape 30"/>
          <p:cNvSpPr/>
          <p:nvPr/>
        </p:nvSpPr>
        <p:spPr>
          <a:xfrm>
            <a:off x="3520440" y="4645152"/>
            <a:ext cx="2331720" cy="329184"/>
          </a:xfrm>
          <a:prstGeom prst="rect">
            <a:avLst/>
          </a:prstGeom>
          <a:solidFill>
            <a:srgbClr val="0D1B3E"/>
          </a:solidFill>
          <a:ln/>
          <a:effectLst>
            <a:outerShdw sx="100000" sy="100000" kx="0" ky="0" algn="bl" rotWithShape="0" blurRad="76200" dist="25400" dir="8100000">
              <a:srgbClr val="000000">
                <a:alpha val="12000"/>
              </a:srgbClr>
            </a:outerShdw>
          </a:effectLst>
        </p:spPr>
      </p:sp>
      <p:sp>
        <p:nvSpPr>
          <p:cNvPr id="33" name="Text 31"/>
          <p:cNvSpPr/>
          <p:nvPr/>
        </p:nvSpPr>
        <p:spPr>
          <a:xfrm>
            <a:off x="3520440" y="4645152"/>
            <a:ext cx="2331720" cy="329184"/>
          </a:xfrm>
          <a:prstGeom prst="rect">
            <a:avLst/>
          </a:prstGeom>
          <a:noFill/>
          <a:ln/>
        </p:spPr>
        <p:txBody>
          <a:bodyPr wrap="square" rtlCol="0" anchor="ctr"/>
          <a:lstStyle/>
          <a:p>
            <a:pPr algn="ctr" indent="0" marL="0">
              <a:buNone/>
            </a:pPr>
            <a:r>
              <a:rPr lang="en-US" sz="950" b="1" dirty="0">
                <a:solidFill>
                  <a:srgbClr val="DC2626"/>
                </a:solidFill>
                <a:latin typeface="Calibri" pitchFamily="34" charset="0"/>
                <a:ea typeface="Calibri" pitchFamily="34" charset="-122"/>
                <a:cs typeface="Calibri" pitchFamily="34" charset="-120"/>
              </a:rPr>
              <a:t>30%  JMS Dependency  (6 of 20 services)</a:t>
            </a:r>
            <a:endParaRPr lang="en-US" sz="950" dirty="0"/>
          </a:p>
        </p:txBody>
      </p:sp>
      <p:sp>
        <p:nvSpPr>
          <p:cNvPr id="34" name="Shape 32"/>
          <p:cNvSpPr/>
          <p:nvPr/>
        </p:nvSpPr>
        <p:spPr>
          <a:xfrm>
            <a:off x="6126480" y="4645152"/>
            <a:ext cx="2331720" cy="329184"/>
          </a:xfrm>
          <a:prstGeom prst="rect">
            <a:avLst/>
          </a:prstGeom>
          <a:solidFill>
            <a:srgbClr val="0D1B3E"/>
          </a:solidFill>
          <a:ln/>
          <a:effectLst>
            <a:outerShdw sx="100000" sy="100000" kx="0" ky="0" algn="bl" rotWithShape="0" blurRad="76200" dist="25400" dir="8100000">
              <a:srgbClr val="000000">
                <a:alpha val="12000"/>
              </a:srgbClr>
            </a:outerShdw>
          </a:effectLst>
        </p:spPr>
      </p:sp>
      <p:sp>
        <p:nvSpPr>
          <p:cNvPr id="35" name="Text 33"/>
          <p:cNvSpPr/>
          <p:nvPr/>
        </p:nvSpPr>
        <p:spPr>
          <a:xfrm>
            <a:off x="6126480" y="4645152"/>
            <a:ext cx="2331720" cy="329184"/>
          </a:xfrm>
          <a:prstGeom prst="rect">
            <a:avLst/>
          </a:prstGeom>
          <a:noFill/>
          <a:ln/>
        </p:spPr>
        <p:txBody>
          <a:bodyPr wrap="square" rtlCol="0" anchor="ctr"/>
          <a:lstStyle/>
          <a:p>
            <a:pPr algn="ctr" indent="0" marL="0">
              <a:buNone/>
            </a:pPr>
            <a:r>
              <a:rPr lang="en-US" sz="950" b="1" dirty="0">
                <a:solidFill>
                  <a:srgbClr val="16A34A"/>
                </a:solidFill>
                <a:latin typeface="Calibri" pitchFamily="34" charset="0"/>
                <a:ea typeface="Calibri" pitchFamily="34" charset="-122"/>
                <a:cs typeface="Calibri" pitchFamily="34" charset="-120"/>
              </a:rPr>
              <a:t>15%  Production Ready  (3 of 20 services)</a:t>
            </a:r>
            <a:endParaRPr lang="en-US" sz="950" dirty="0"/>
          </a:p>
        </p:txBody>
      </p:sp>
      <p:sp>
        <p:nvSpPr>
          <p:cNvPr id="36" name="Shape 34"/>
          <p:cNvSpPr/>
          <p:nvPr/>
        </p:nvSpPr>
        <p:spPr>
          <a:xfrm>
            <a:off x="0" y="4956048"/>
            <a:ext cx="9144000" cy="201168"/>
          </a:xfrm>
          <a:prstGeom prst="rect">
            <a:avLst/>
          </a:prstGeom>
          <a:solidFill>
            <a:srgbClr val="152848"/>
          </a:solidFill>
          <a:ln/>
        </p:spPr>
      </p:sp>
      <p:sp>
        <p:nvSpPr>
          <p:cNvPr id="37" name="Text 35"/>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848"/>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Timeline at a Glance — Full Roadmap  |  20 Services across 4 Phases</a:t>
            </a:r>
            <a:endParaRPr lang="en-US" sz="1800" dirty="0"/>
          </a:p>
        </p:txBody>
      </p:sp>
      <p:sp>
        <p:nvSpPr>
          <p:cNvPr id="5" name="Shape 3"/>
          <p:cNvSpPr/>
          <p:nvPr/>
        </p:nvSpPr>
        <p:spPr>
          <a:xfrm>
            <a:off x="228600" y="804672"/>
            <a:ext cx="2084832" cy="4279392"/>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6" name="Shape 4"/>
          <p:cNvSpPr/>
          <p:nvPr/>
        </p:nvSpPr>
        <p:spPr>
          <a:xfrm>
            <a:off x="228600" y="804672"/>
            <a:ext cx="2084832" cy="54864"/>
          </a:xfrm>
          <a:prstGeom prst="rect">
            <a:avLst/>
          </a:prstGeom>
          <a:solidFill>
            <a:srgbClr val="16A34A"/>
          </a:solidFill>
          <a:ln/>
        </p:spPr>
      </p:sp>
      <p:sp>
        <p:nvSpPr>
          <p:cNvPr id="7" name="Text 5"/>
          <p:cNvSpPr/>
          <p:nvPr/>
        </p:nvSpPr>
        <p:spPr>
          <a:xfrm>
            <a:off x="228600" y="859536"/>
            <a:ext cx="2084832" cy="347472"/>
          </a:xfrm>
          <a:prstGeom prst="rect">
            <a:avLst/>
          </a:prstGeom>
          <a:noFill/>
          <a:ln/>
        </p:spPr>
        <p:txBody>
          <a:bodyPr wrap="square" rtlCol="0" anchor="ctr"/>
          <a:lstStyle/>
          <a:p>
            <a:pPr algn="ctr" indent="0" marL="0">
              <a:buNone/>
            </a:pPr>
            <a:r>
              <a:rPr lang="en-US" sz="1200" b="1" dirty="0">
                <a:solidFill>
                  <a:srgbClr val="16A34A"/>
                </a:solidFill>
                <a:latin typeface="Calibri" pitchFamily="34" charset="0"/>
                <a:ea typeface="Calibri" pitchFamily="34" charset="-122"/>
                <a:cs typeface="Calibri" pitchFamily="34" charset="-120"/>
              </a:rPr>
              <a:t>✅  2025</a:t>
            </a:r>
            <a:endParaRPr lang="en-US" sz="1200" dirty="0"/>
          </a:p>
        </p:txBody>
      </p:sp>
      <p:sp>
        <p:nvSpPr>
          <p:cNvPr id="8" name="Text 6"/>
          <p:cNvSpPr/>
          <p:nvPr/>
        </p:nvSpPr>
        <p:spPr>
          <a:xfrm>
            <a:off x="228600" y="1188720"/>
            <a:ext cx="2084832" cy="2286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Complete</a:t>
            </a:r>
            <a:endParaRPr lang="en-US" sz="1000" dirty="0"/>
          </a:p>
        </p:txBody>
      </p:sp>
      <p:sp>
        <p:nvSpPr>
          <p:cNvPr id="9" name="Shape 7"/>
          <p:cNvSpPr/>
          <p:nvPr/>
        </p:nvSpPr>
        <p:spPr>
          <a:xfrm>
            <a:off x="411480" y="1463040"/>
            <a:ext cx="1719072" cy="18288"/>
          </a:xfrm>
          <a:prstGeom prst="rect">
            <a:avLst/>
          </a:prstGeom>
          <a:solidFill>
            <a:srgbClr val="16A34A"/>
          </a:solidFill>
          <a:ln/>
        </p:spPr>
      </p:sp>
      <p:sp>
        <p:nvSpPr>
          <p:cNvPr id="10" name="Shape 8"/>
          <p:cNvSpPr/>
          <p:nvPr/>
        </p:nvSpPr>
        <p:spPr>
          <a:xfrm>
            <a:off x="365760" y="1554480"/>
            <a:ext cx="1810512" cy="347472"/>
          </a:xfrm>
          <a:prstGeom prst="rect">
            <a:avLst/>
          </a:prstGeom>
          <a:solidFill>
            <a:srgbClr val="1E3461"/>
          </a:solidFill>
          <a:ln/>
        </p:spPr>
      </p:sp>
      <p:sp>
        <p:nvSpPr>
          <p:cNvPr id="11" name="Shape 9"/>
          <p:cNvSpPr/>
          <p:nvPr/>
        </p:nvSpPr>
        <p:spPr>
          <a:xfrm>
            <a:off x="365760" y="1554480"/>
            <a:ext cx="54864" cy="347472"/>
          </a:xfrm>
          <a:prstGeom prst="rect">
            <a:avLst/>
          </a:prstGeom>
          <a:solidFill>
            <a:srgbClr val="16A34A"/>
          </a:solidFill>
          <a:ln/>
        </p:spPr>
      </p:sp>
      <p:sp>
        <p:nvSpPr>
          <p:cNvPr id="12" name="Text 10"/>
          <p:cNvSpPr/>
          <p:nvPr/>
        </p:nvSpPr>
        <p:spPr>
          <a:xfrm>
            <a:off x="475488" y="155448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Loan Disbursement Service</a:t>
            </a:r>
            <a:endParaRPr lang="en-US" sz="850" dirty="0"/>
          </a:p>
        </p:txBody>
      </p:sp>
      <p:sp>
        <p:nvSpPr>
          <p:cNvPr id="13" name="Shape 11"/>
          <p:cNvSpPr/>
          <p:nvPr/>
        </p:nvSpPr>
        <p:spPr>
          <a:xfrm>
            <a:off x="365760" y="1975104"/>
            <a:ext cx="1810512" cy="347472"/>
          </a:xfrm>
          <a:prstGeom prst="rect">
            <a:avLst/>
          </a:prstGeom>
          <a:solidFill>
            <a:srgbClr val="1E3461"/>
          </a:solidFill>
          <a:ln/>
        </p:spPr>
      </p:sp>
      <p:sp>
        <p:nvSpPr>
          <p:cNvPr id="14" name="Shape 12"/>
          <p:cNvSpPr/>
          <p:nvPr/>
        </p:nvSpPr>
        <p:spPr>
          <a:xfrm>
            <a:off x="365760" y="1975104"/>
            <a:ext cx="54864" cy="347472"/>
          </a:xfrm>
          <a:prstGeom prst="rect">
            <a:avLst/>
          </a:prstGeom>
          <a:solidFill>
            <a:srgbClr val="16A34A"/>
          </a:solidFill>
          <a:ln/>
        </p:spPr>
      </p:sp>
      <p:sp>
        <p:nvSpPr>
          <p:cNvPr id="15" name="Text 13"/>
          <p:cNvSpPr/>
          <p:nvPr/>
        </p:nvSpPr>
        <p:spPr>
          <a:xfrm>
            <a:off x="475488" y="1975104"/>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Borrower Service</a:t>
            </a:r>
            <a:endParaRPr lang="en-US" sz="850" dirty="0"/>
          </a:p>
        </p:txBody>
      </p:sp>
      <p:sp>
        <p:nvSpPr>
          <p:cNvPr id="16" name="Shape 14"/>
          <p:cNvSpPr/>
          <p:nvPr/>
        </p:nvSpPr>
        <p:spPr>
          <a:xfrm>
            <a:off x="365760" y="2395728"/>
            <a:ext cx="1810512" cy="347472"/>
          </a:xfrm>
          <a:prstGeom prst="rect">
            <a:avLst/>
          </a:prstGeom>
          <a:solidFill>
            <a:srgbClr val="1E3461"/>
          </a:solidFill>
          <a:ln/>
        </p:spPr>
      </p:sp>
      <p:sp>
        <p:nvSpPr>
          <p:cNvPr id="17" name="Shape 15"/>
          <p:cNvSpPr/>
          <p:nvPr/>
        </p:nvSpPr>
        <p:spPr>
          <a:xfrm>
            <a:off x="365760" y="2395728"/>
            <a:ext cx="54864" cy="347472"/>
          </a:xfrm>
          <a:prstGeom prst="rect">
            <a:avLst/>
          </a:prstGeom>
          <a:solidFill>
            <a:srgbClr val="16A34A"/>
          </a:solidFill>
          <a:ln/>
        </p:spPr>
      </p:sp>
      <p:sp>
        <p:nvSpPr>
          <p:cNvPr id="18" name="Text 16"/>
          <p:cNvSpPr/>
          <p:nvPr/>
        </p:nvSpPr>
        <p:spPr>
          <a:xfrm>
            <a:off x="475488" y="2395728"/>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Case Service</a:t>
            </a:r>
            <a:endParaRPr lang="en-US" sz="850" dirty="0"/>
          </a:p>
        </p:txBody>
      </p:sp>
      <p:sp>
        <p:nvSpPr>
          <p:cNvPr id="19" name="Shape 17"/>
          <p:cNvSpPr/>
          <p:nvPr/>
        </p:nvSpPr>
        <p:spPr>
          <a:xfrm>
            <a:off x="2450592" y="804672"/>
            <a:ext cx="2084832" cy="4279392"/>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20" name="Shape 18"/>
          <p:cNvSpPr/>
          <p:nvPr/>
        </p:nvSpPr>
        <p:spPr>
          <a:xfrm>
            <a:off x="2450592" y="804672"/>
            <a:ext cx="2084832" cy="54864"/>
          </a:xfrm>
          <a:prstGeom prst="rect">
            <a:avLst/>
          </a:prstGeom>
          <a:solidFill>
            <a:srgbClr val="3B82F6"/>
          </a:solidFill>
          <a:ln/>
        </p:spPr>
      </p:sp>
      <p:sp>
        <p:nvSpPr>
          <p:cNvPr id="21" name="Text 19"/>
          <p:cNvSpPr/>
          <p:nvPr/>
        </p:nvSpPr>
        <p:spPr>
          <a:xfrm>
            <a:off x="2450592" y="859536"/>
            <a:ext cx="2084832" cy="347472"/>
          </a:xfrm>
          <a:prstGeom prst="rect">
            <a:avLst/>
          </a:prstGeom>
          <a:noFill/>
          <a:ln/>
        </p:spPr>
        <p:txBody>
          <a:bodyPr wrap="square" rtlCol="0" anchor="ctr"/>
          <a:lstStyle/>
          <a:p>
            <a:pPr algn="ctr" indent="0" marL="0">
              <a:buNone/>
            </a:pPr>
            <a:r>
              <a:rPr lang="en-US" sz="1200" b="1" dirty="0">
                <a:solidFill>
                  <a:srgbClr val="3B82F6"/>
                </a:solidFill>
                <a:latin typeface="Calibri" pitchFamily="34" charset="0"/>
                <a:ea typeface="Calibri" pitchFamily="34" charset="-122"/>
                <a:cs typeface="Calibri" pitchFamily="34" charset="-120"/>
              </a:rPr>
              <a:t>🔵  Q1 2026</a:t>
            </a:r>
            <a:endParaRPr lang="en-US" sz="1200" dirty="0"/>
          </a:p>
        </p:txBody>
      </p:sp>
      <p:sp>
        <p:nvSpPr>
          <p:cNvPr id="22" name="Text 20"/>
          <p:cNvSpPr/>
          <p:nvPr/>
        </p:nvSpPr>
        <p:spPr>
          <a:xfrm>
            <a:off x="2450592" y="1188720"/>
            <a:ext cx="2084832" cy="2286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7 Services</a:t>
            </a:r>
            <a:endParaRPr lang="en-US" sz="1000" dirty="0"/>
          </a:p>
        </p:txBody>
      </p:sp>
      <p:sp>
        <p:nvSpPr>
          <p:cNvPr id="23" name="Shape 21"/>
          <p:cNvSpPr/>
          <p:nvPr/>
        </p:nvSpPr>
        <p:spPr>
          <a:xfrm>
            <a:off x="2633472" y="1463040"/>
            <a:ext cx="1719072" cy="18288"/>
          </a:xfrm>
          <a:prstGeom prst="rect">
            <a:avLst/>
          </a:prstGeom>
          <a:solidFill>
            <a:srgbClr val="3B82F6"/>
          </a:solidFill>
          <a:ln/>
        </p:spPr>
      </p:sp>
      <p:sp>
        <p:nvSpPr>
          <p:cNvPr id="24" name="Shape 22"/>
          <p:cNvSpPr/>
          <p:nvPr/>
        </p:nvSpPr>
        <p:spPr>
          <a:xfrm>
            <a:off x="2587752" y="1554480"/>
            <a:ext cx="1810512" cy="347472"/>
          </a:xfrm>
          <a:prstGeom prst="rect">
            <a:avLst/>
          </a:prstGeom>
          <a:solidFill>
            <a:srgbClr val="1E3461"/>
          </a:solidFill>
          <a:ln/>
        </p:spPr>
      </p:sp>
      <p:sp>
        <p:nvSpPr>
          <p:cNvPr id="25" name="Shape 23"/>
          <p:cNvSpPr/>
          <p:nvPr/>
        </p:nvSpPr>
        <p:spPr>
          <a:xfrm>
            <a:off x="2587752" y="1554480"/>
            <a:ext cx="54864" cy="347472"/>
          </a:xfrm>
          <a:prstGeom prst="rect">
            <a:avLst/>
          </a:prstGeom>
          <a:solidFill>
            <a:srgbClr val="3B82F6"/>
          </a:solidFill>
          <a:ln/>
        </p:spPr>
      </p:sp>
      <p:sp>
        <p:nvSpPr>
          <p:cNvPr id="26" name="Text 24"/>
          <p:cNvSpPr/>
          <p:nvPr/>
        </p:nvSpPr>
        <p:spPr>
          <a:xfrm>
            <a:off x="2697480" y="155448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Business Event V1</a:t>
            </a:r>
            <a:endParaRPr lang="en-US" sz="850" dirty="0"/>
          </a:p>
        </p:txBody>
      </p:sp>
      <p:sp>
        <p:nvSpPr>
          <p:cNvPr id="27" name="Shape 25"/>
          <p:cNvSpPr/>
          <p:nvPr/>
        </p:nvSpPr>
        <p:spPr>
          <a:xfrm>
            <a:off x="2587752" y="1975104"/>
            <a:ext cx="1810512" cy="347472"/>
          </a:xfrm>
          <a:prstGeom prst="rect">
            <a:avLst/>
          </a:prstGeom>
          <a:solidFill>
            <a:srgbClr val="1E3461"/>
          </a:solidFill>
          <a:ln/>
        </p:spPr>
      </p:sp>
      <p:sp>
        <p:nvSpPr>
          <p:cNvPr id="28" name="Shape 26"/>
          <p:cNvSpPr/>
          <p:nvPr/>
        </p:nvSpPr>
        <p:spPr>
          <a:xfrm>
            <a:off x="2587752" y="1975104"/>
            <a:ext cx="54864" cy="347472"/>
          </a:xfrm>
          <a:prstGeom prst="rect">
            <a:avLst/>
          </a:prstGeom>
          <a:solidFill>
            <a:srgbClr val="3B82F6"/>
          </a:solidFill>
          <a:ln/>
        </p:spPr>
      </p:sp>
      <p:sp>
        <p:nvSpPr>
          <p:cNvPr id="29" name="Text 27"/>
          <p:cNvSpPr/>
          <p:nvPr/>
        </p:nvSpPr>
        <p:spPr>
          <a:xfrm>
            <a:off x="2697480" y="1975104"/>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Person Associations V1</a:t>
            </a:r>
            <a:endParaRPr lang="en-US" sz="850" dirty="0"/>
          </a:p>
        </p:txBody>
      </p:sp>
      <p:sp>
        <p:nvSpPr>
          <p:cNvPr id="30" name="Shape 28"/>
          <p:cNvSpPr/>
          <p:nvPr/>
        </p:nvSpPr>
        <p:spPr>
          <a:xfrm>
            <a:off x="2587752" y="2395728"/>
            <a:ext cx="1810512" cy="347472"/>
          </a:xfrm>
          <a:prstGeom prst="rect">
            <a:avLst/>
          </a:prstGeom>
          <a:solidFill>
            <a:srgbClr val="1E3461"/>
          </a:solidFill>
          <a:ln/>
        </p:spPr>
      </p:sp>
      <p:sp>
        <p:nvSpPr>
          <p:cNvPr id="31" name="Shape 29"/>
          <p:cNvSpPr/>
          <p:nvPr/>
        </p:nvSpPr>
        <p:spPr>
          <a:xfrm>
            <a:off x="2587752" y="2395728"/>
            <a:ext cx="54864" cy="347472"/>
          </a:xfrm>
          <a:prstGeom prst="rect">
            <a:avLst/>
          </a:prstGeom>
          <a:solidFill>
            <a:srgbClr val="3B82F6"/>
          </a:solidFill>
          <a:ln/>
        </p:spPr>
      </p:sp>
      <p:sp>
        <p:nvSpPr>
          <p:cNvPr id="32" name="Text 30"/>
          <p:cNvSpPr/>
          <p:nvPr/>
        </p:nvSpPr>
        <p:spPr>
          <a:xfrm>
            <a:off x="2697480" y="2395728"/>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Loan Default V1</a:t>
            </a:r>
            <a:endParaRPr lang="en-US" sz="850" dirty="0"/>
          </a:p>
        </p:txBody>
      </p:sp>
      <p:sp>
        <p:nvSpPr>
          <p:cNvPr id="33" name="Shape 31"/>
          <p:cNvSpPr/>
          <p:nvPr/>
        </p:nvSpPr>
        <p:spPr>
          <a:xfrm>
            <a:off x="2587752" y="2816352"/>
            <a:ext cx="1810512" cy="347472"/>
          </a:xfrm>
          <a:prstGeom prst="rect">
            <a:avLst/>
          </a:prstGeom>
          <a:solidFill>
            <a:srgbClr val="1E3461"/>
          </a:solidFill>
          <a:ln/>
        </p:spPr>
      </p:sp>
      <p:sp>
        <p:nvSpPr>
          <p:cNvPr id="34" name="Shape 32"/>
          <p:cNvSpPr/>
          <p:nvPr/>
        </p:nvSpPr>
        <p:spPr>
          <a:xfrm>
            <a:off x="2587752" y="2816352"/>
            <a:ext cx="54864" cy="347472"/>
          </a:xfrm>
          <a:prstGeom prst="rect">
            <a:avLst/>
          </a:prstGeom>
          <a:solidFill>
            <a:srgbClr val="3B82F6"/>
          </a:solidFill>
          <a:ln/>
        </p:spPr>
      </p:sp>
      <p:sp>
        <p:nvSpPr>
          <p:cNvPr id="35" name="Text 33"/>
          <p:cNvSpPr/>
          <p:nvPr/>
        </p:nvSpPr>
        <p:spPr>
          <a:xfrm>
            <a:off x="2697480" y="2816352"/>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Billing V1</a:t>
            </a:r>
            <a:endParaRPr lang="en-US" sz="850" dirty="0"/>
          </a:p>
        </p:txBody>
      </p:sp>
      <p:sp>
        <p:nvSpPr>
          <p:cNvPr id="36" name="Shape 34"/>
          <p:cNvSpPr/>
          <p:nvPr/>
        </p:nvSpPr>
        <p:spPr>
          <a:xfrm>
            <a:off x="2587752" y="3236976"/>
            <a:ext cx="1810512" cy="347472"/>
          </a:xfrm>
          <a:prstGeom prst="rect">
            <a:avLst/>
          </a:prstGeom>
          <a:solidFill>
            <a:srgbClr val="1E3461"/>
          </a:solidFill>
          <a:ln/>
        </p:spPr>
      </p:sp>
      <p:sp>
        <p:nvSpPr>
          <p:cNvPr id="37" name="Shape 35"/>
          <p:cNvSpPr/>
          <p:nvPr/>
        </p:nvSpPr>
        <p:spPr>
          <a:xfrm>
            <a:off x="2587752" y="3236976"/>
            <a:ext cx="54864" cy="347472"/>
          </a:xfrm>
          <a:prstGeom prst="rect">
            <a:avLst/>
          </a:prstGeom>
          <a:solidFill>
            <a:srgbClr val="3B82F6"/>
          </a:solidFill>
          <a:ln/>
        </p:spPr>
      </p:sp>
      <p:sp>
        <p:nvSpPr>
          <p:cNvPr id="38" name="Text 36"/>
          <p:cNvSpPr/>
          <p:nvPr/>
        </p:nvSpPr>
        <p:spPr>
          <a:xfrm>
            <a:off x="2697480" y="3236976"/>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Payment V2</a:t>
            </a:r>
            <a:endParaRPr lang="en-US" sz="850" dirty="0"/>
          </a:p>
        </p:txBody>
      </p:sp>
      <p:sp>
        <p:nvSpPr>
          <p:cNvPr id="39" name="Shape 37"/>
          <p:cNvSpPr/>
          <p:nvPr/>
        </p:nvSpPr>
        <p:spPr>
          <a:xfrm>
            <a:off x="2587752" y="3657600"/>
            <a:ext cx="1810512" cy="347472"/>
          </a:xfrm>
          <a:prstGeom prst="rect">
            <a:avLst/>
          </a:prstGeom>
          <a:solidFill>
            <a:srgbClr val="1E3461"/>
          </a:solidFill>
          <a:ln/>
        </p:spPr>
      </p:sp>
      <p:sp>
        <p:nvSpPr>
          <p:cNvPr id="40" name="Shape 38"/>
          <p:cNvSpPr/>
          <p:nvPr/>
        </p:nvSpPr>
        <p:spPr>
          <a:xfrm>
            <a:off x="2587752" y="3657600"/>
            <a:ext cx="54864" cy="347472"/>
          </a:xfrm>
          <a:prstGeom prst="rect">
            <a:avLst/>
          </a:prstGeom>
          <a:solidFill>
            <a:srgbClr val="3B82F6"/>
          </a:solidFill>
          <a:ln/>
        </p:spPr>
      </p:sp>
      <p:sp>
        <p:nvSpPr>
          <p:cNvPr id="41" name="Text 39"/>
          <p:cNvSpPr/>
          <p:nvPr/>
        </p:nvSpPr>
        <p:spPr>
          <a:xfrm>
            <a:off x="2697480" y="365760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Credit Reporting V2</a:t>
            </a:r>
            <a:endParaRPr lang="en-US" sz="850" dirty="0"/>
          </a:p>
        </p:txBody>
      </p:sp>
      <p:sp>
        <p:nvSpPr>
          <p:cNvPr id="42" name="Shape 40"/>
          <p:cNvSpPr/>
          <p:nvPr/>
        </p:nvSpPr>
        <p:spPr>
          <a:xfrm>
            <a:off x="2587752" y="4078224"/>
            <a:ext cx="1810512" cy="347472"/>
          </a:xfrm>
          <a:prstGeom prst="rect">
            <a:avLst/>
          </a:prstGeom>
          <a:solidFill>
            <a:srgbClr val="1E3461"/>
          </a:solidFill>
          <a:ln/>
        </p:spPr>
      </p:sp>
      <p:sp>
        <p:nvSpPr>
          <p:cNvPr id="43" name="Shape 41"/>
          <p:cNvSpPr/>
          <p:nvPr/>
        </p:nvSpPr>
        <p:spPr>
          <a:xfrm>
            <a:off x="2587752" y="4078224"/>
            <a:ext cx="54864" cy="347472"/>
          </a:xfrm>
          <a:prstGeom prst="rect">
            <a:avLst/>
          </a:prstGeom>
          <a:solidFill>
            <a:srgbClr val="3B82F6"/>
          </a:solidFill>
          <a:ln/>
        </p:spPr>
      </p:sp>
      <p:sp>
        <p:nvSpPr>
          <p:cNvPr id="44" name="Text 42"/>
          <p:cNvSpPr/>
          <p:nvPr/>
        </p:nvSpPr>
        <p:spPr>
          <a:xfrm>
            <a:off x="2697480" y="4078224"/>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Guaranty Rehab</a:t>
            </a:r>
            <a:endParaRPr lang="en-US" sz="850" dirty="0"/>
          </a:p>
        </p:txBody>
      </p:sp>
      <p:sp>
        <p:nvSpPr>
          <p:cNvPr id="45" name="Shape 43"/>
          <p:cNvSpPr/>
          <p:nvPr/>
        </p:nvSpPr>
        <p:spPr>
          <a:xfrm>
            <a:off x="4672584" y="804672"/>
            <a:ext cx="2084832" cy="4279392"/>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46" name="Shape 44"/>
          <p:cNvSpPr/>
          <p:nvPr/>
        </p:nvSpPr>
        <p:spPr>
          <a:xfrm>
            <a:off x="4672584" y="804672"/>
            <a:ext cx="2084832" cy="54864"/>
          </a:xfrm>
          <a:prstGeom prst="rect">
            <a:avLst/>
          </a:prstGeom>
          <a:solidFill>
            <a:srgbClr val="D97706"/>
          </a:solidFill>
          <a:ln/>
        </p:spPr>
      </p:sp>
      <p:sp>
        <p:nvSpPr>
          <p:cNvPr id="47" name="Text 45"/>
          <p:cNvSpPr/>
          <p:nvPr/>
        </p:nvSpPr>
        <p:spPr>
          <a:xfrm>
            <a:off x="4672584" y="859536"/>
            <a:ext cx="2084832" cy="347472"/>
          </a:xfrm>
          <a:prstGeom prst="rect">
            <a:avLst/>
          </a:prstGeom>
          <a:noFill/>
          <a:ln/>
        </p:spPr>
        <p:txBody>
          <a:bodyPr wrap="square" rtlCol="0" anchor="ctr"/>
          <a:lstStyle/>
          <a:p>
            <a:pPr algn="ctr" indent="0" marL="0">
              <a:buNone/>
            </a:pPr>
            <a:r>
              <a:rPr lang="en-US" sz="1200" b="1" dirty="0">
                <a:solidFill>
                  <a:srgbClr val="D97706"/>
                </a:solidFill>
                <a:latin typeface="Calibri" pitchFamily="34" charset="0"/>
                <a:ea typeface="Calibri" pitchFamily="34" charset="-122"/>
                <a:cs typeface="Calibri" pitchFamily="34" charset="-120"/>
              </a:rPr>
              <a:t>🟡  Q2 2026</a:t>
            </a:r>
            <a:endParaRPr lang="en-US" sz="1200" dirty="0"/>
          </a:p>
        </p:txBody>
      </p:sp>
      <p:sp>
        <p:nvSpPr>
          <p:cNvPr id="48" name="Text 46"/>
          <p:cNvSpPr/>
          <p:nvPr/>
        </p:nvSpPr>
        <p:spPr>
          <a:xfrm>
            <a:off x="4672584" y="1188720"/>
            <a:ext cx="2084832" cy="2286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6 Services</a:t>
            </a:r>
            <a:endParaRPr lang="en-US" sz="1000" dirty="0"/>
          </a:p>
        </p:txBody>
      </p:sp>
      <p:sp>
        <p:nvSpPr>
          <p:cNvPr id="49" name="Shape 47"/>
          <p:cNvSpPr/>
          <p:nvPr/>
        </p:nvSpPr>
        <p:spPr>
          <a:xfrm>
            <a:off x="4855464" y="1463040"/>
            <a:ext cx="1719072" cy="18288"/>
          </a:xfrm>
          <a:prstGeom prst="rect">
            <a:avLst/>
          </a:prstGeom>
          <a:solidFill>
            <a:srgbClr val="D97706"/>
          </a:solidFill>
          <a:ln/>
        </p:spPr>
      </p:sp>
      <p:sp>
        <p:nvSpPr>
          <p:cNvPr id="50" name="Shape 48"/>
          <p:cNvSpPr/>
          <p:nvPr/>
        </p:nvSpPr>
        <p:spPr>
          <a:xfrm>
            <a:off x="4809744" y="1554480"/>
            <a:ext cx="1810512" cy="347472"/>
          </a:xfrm>
          <a:prstGeom prst="rect">
            <a:avLst/>
          </a:prstGeom>
          <a:solidFill>
            <a:srgbClr val="1E3461"/>
          </a:solidFill>
          <a:ln/>
        </p:spPr>
      </p:sp>
      <p:sp>
        <p:nvSpPr>
          <p:cNvPr id="51" name="Shape 49"/>
          <p:cNvSpPr/>
          <p:nvPr/>
        </p:nvSpPr>
        <p:spPr>
          <a:xfrm>
            <a:off x="4809744" y="1554480"/>
            <a:ext cx="54864" cy="347472"/>
          </a:xfrm>
          <a:prstGeom prst="rect">
            <a:avLst/>
          </a:prstGeom>
          <a:solidFill>
            <a:srgbClr val="D97706"/>
          </a:solidFill>
          <a:ln/>
        </p:spPr>
      </p:sp>
      <p:sp>
        <p:nvSpPr>
          <p:cNvPr id="52" name="Text 50"/>
          <p:cNvSpPr/>
          <p:nvPr/>
        </p:nvSpPr>
        <p:spPr>
          <a:xfrm>
            <a:off x="4919472" y="155448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Person Profile v3</a:t>
            </a:r>
            <a:endParaRPr lang="en-US" sz="850" dirty="0"/>
          </a:p>
        </p:txBody>
      </p:sp>
      <p:sp>
        <p:nvSpPr>
          <p:cNvPr id="53" name="Shape 51"/>
          <p:cNvSpPr/>
          <p:nvPr/>
        </p:nvSpPr>
        <p:spPr>
          <a:xfrm>
            <a:off x="4809744" y="1975104"/>
            <a:ext cx="1810512" cy="347472"/>
          </a:xfrm>
          <a:prstGeom prst="rect">
            <a:avLst/>
          </a:prstGeom>
          <a:solidFill>
            <a:srgbClr val="1E3461"/>
          </a:solidFill>
          <a:ln/>
        </p:spPr>
      </p:sp>
      <p:sp>
        <p:nvSpPr>
          <p:cNvPr id="54" name="Shape 52"/>
          <p:cNvSpPr/>
          <p:nvPr/>
        </p:nvSpPr>
        <p:spPr>
          <a:xfrm>
            <a:off x="4809744" y="1975104"/>
            <a:ext cx="54864" cy="347472"/>
          </a:xfrm>
          <a:prstGeom prst="rect">
            <a:avLst/>
          </a:prstGeom>
          <a:solidFill>
            <a:srgbClr val="D97706"/>
          </a:solidFill>
          <a:ln/>
        </p:spPr>
      </p:sp>
      <p:sp>
        <p:nvSpPr>
          <p:cNvPr id="55" name="Text 53"/>
          <p:cNvSpPr/>
          <p:nvPr/>
        </p:nvSpPr>
        <p:spPr>
          <a:xfrm>
            <a:off x="4919472" y="1975104"/>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Person Contact V1</a:t>
            </a:r>
            <a:endParaRPr lang="en-US" sz="850" dirty="0"/>
          </a:p>
        </p:txBody>
      </p:sp>
      <p:sp>
        <p:nvSpPr>
          <p:cNvPr id="56" name="Shape 54"/>
          <p:cNvSpPr/>
          <p:nvPr/>
        </p:nvSpPr>
        <p:spPr>
          <a:xfrm>
            <a:off x="4809744" y="2395728"/>
            <a:ext cx="1810512" cy="347472"/>
          </a:xfrm>
          <a:prstGeom prst="rect">
            <a:avLst/>
          </a:prstGeom>
          <a:solidFill>
            <a:srgbClr val="1E3461"/>
          </a:solidFill>
          <a:ln/>
        </p:spPr>
      </p:sp>
      <p:sp>
        <p:nvSpPr>
          <p:cNvPr id="57" name="Shape 55"/>
          <p:cNvSpPr/>
          <p:nvPr/>
        </p:nvSpPr>
        <p:spPr>
          <a:xfrm>
            <a:off x="4809744" y="2395728"/>
            <a:ext cx="54864" cy="347472"/>
          </a:xfrm>
          <a:prstGeom prst="rect">
            <a:avLst/>
          </a:prstGeom>
          <a:solidFill>
            <a:srgbClr val="D97706"/>
          </a:solidFill>
          <a:ln/>
        </p:spPr>
      </p:sp>
      <p:sp>
        <p:nvSpPr>
          <p:cNvPr id="58" name="Text 56"/>
          <p:cNvSpPr/>
          <p:nvPr/>
        </p:nvSpPr>
        <p:spPr>
          <a:xfrm>
            <a:off x="4919472" y="2395728"/>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Direct Debit V1</a:t>
            </a:r>
            <a:endParaRPr lang="en-US" sz="850" dirty="0"/>
          </a:p>
        </p:txBody>
      </p:sp>
      <p:sp>
        <p:nvSpPr>
          <p:cNvPr id="59" name="Shape 57"/>
          <p:cNvSpPr/>
          <p:nvPr/>
        </p:nvSpPr>
        <p:spPr>
          <a:xfrm>
            <a:off x="4809744" y="2816352"/>
            <a:ext cx="1810512" cy="347472"/>
          </a:xfrm>
          <a:prstGeom prst="rect">
            <a:avLst/>
          </a:prstGeom>
          <a:solidFill>
            <a:srgbClr val="1E3461"/>
          </a:solidFill>
          <a:ln/>
        </p:spPr>
      </p:sp>
      <p:sp>
        <p:nvSpPr>
          <p:cNvPr id="60" name="Shape 58"/>
          <p:cNvSpPr/>
          <p:nvPr/>
        </p:nvSpPr>
        <p:spPr>
          <a:xfrm>
            <a:off x="4809744" y="2816352"/>
            <a:ext cx="54864" cy="347472"/>
          </a:xfrm>
          <a:prstGeom prst="rect">
            <a:avLst/>
          </a:prstGeom>
          <a:solidFill>
            <a:srgbClr val="D97706"/>
          </a:solidFill>
          <a:ln/>
        </p:spPr>
      </p:sp>
      <p:sp>
        <p:nvSpPr>
          <p:cNvPr id="61" name="Text 59"/>
          <p:cNvSpPr/>
          <p:nvPr/>
        </p:nvSpPr>
        <p:spPr>
          <a:xfrm>
            <a:off x="4919472" y="2816352"/>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Repayment Schedule V1</a:t>
            </a:r>
            <a:endParaRPr lang="en-US" sz="850" dirty="0"/>
          </a:p>
        </p:txBody>
      </p:sp>
      <p:sp>
        <p:nvSpPr>
          <p:cNvPr id="62" name="Shape 60"/>
          <p:cNvSpPr/>
          <p:nvPr/>
        </p:nvSpPr>
        <p:spPr>
          <a:xfrm>
            <a:off x="4809744" y="3236976"/>
            <a:ext cx="1810512" cy="347472"/>
          </a:xfrm>
          <a:prstGeom prst="rect">
            <a:avLst/>
          </a:prstGeom>
          <a:solidFill>
            <a:srgbClr val="1E3461"/>
          </a:solidFill>
          <a:ln/>
        </p:spPr>
      </p:sp>
      <p:sp>
        <p:nvSpPr>
          <p:cNvPr id="63" name="Shape 61"/>
          <p:cNvSpPr/>
          <p:nvPr/>
        </p:nvSpPr>
        <p:spPr>
          <a:xfrm>
            <a:off x="4809744" y="3236976"/>
            <a:ext cx="54864" cy="347472"/>
          </a:xfrm>
          <a:prstGeom prst="rect">
            <a:avLst/>
          </a:prstGeom>
          <a:solidFill>
            <a:srgbClr val="D97706"/>
          </a:solidFill>
          <a:ln/>
        </p:spPr>
      </p:sp>
      <p:sp>
        <p:nvSpPr>
          <p:cNvPr id="64" name="Text 62"/>
          <p:cNvSpPr/>
          <p:nvPr/>
        </p:nvSpPr>
        <p:spPr>
          <a:xfrm>
            <a:off x="4919472" y="3236976"/>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Consumer Tax V1</a:t>
            </a:r>
            <a:endParaRPr lang="en-US" sz="850" dirty="0"/>
          </a:p>
        </p:txBody>
      </p:sp>
      <p:sp>
        <p:nvSpPr>
          <p:cNvPr id="65" name="Shape 63"/>
          <p:cNvSpPr/>
          <p:nvPr/>
        </p:nvSpPr>
        <p:spPr>
          <a:xfrm>
            <a:off x="4809744" y="3657600"/>
            <a:ext cx="1810512" cy="347472"/>
          </a:xfrm>
          <a:prstGeom prst="rect">
            <a:avLst/>
          </a:prstGeom>
          <a:solidFill>
            <a:srgbClr val="1E3461"/>
          </a:solidFill>
          <a:ln/>
        </p:spPr>
      </p:sp>
      <p:sp>
        <p:nvSpPr>
          <p:cNvPr id="66" name="Shape 64"/>
          <p:cNvSpPr/>
          <p:nvPr/>
        </p:nvSpPr>
        <p:spPr>
          <a:xfrm>
            <a:off x="4809744" y="3657600"/>
            <a:ext cx="54864" cy="347472"/>
          </a:xfrm>
          <a:prstGeom prst="rect">
            <a:avLst/>
          </a:prstGeom>
          <a:solidFill>
            <a:srgbClr val="D97706"/>
          </a:solidFill>
          <a:ln/>
        </p:spPr>
      </p:sp>
      <p:sp>
        <p:nvSpPr>
          <p:cNvPr id="67" name="Text 65"/>
          <p:cNvSpPr/>
          <p:nvPr/>
        </p:nvSpPr>
        <p:spPr>
          <a:xfrm>
            <a:off x="4919472" y="365760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IDR Forgiveness API V1</a:t>
            </a:r>
            <a:endParaRPr lang="en-US" sz="850" dirty="0"/>
          </a:p>
        </p:txBody>
      </p:sp>
      <p:sp>
        <p:nvSpPr>
          <p:cNvPr id="68" name="Shape 66"/>
          <p:cNvSpPr/>
          <p:nvPr/>
        </p:nvSpPr>
        <p:spPr>
          <a:xfrm>
            <a:off x="6894576" y="804672"/>
            <a:ext cx="2084832" cy="4279392"/>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69" name="Shape 67"/>
          <p:cNvSpPr/>
          <p:nvPr/>
        </p:nvSpPr>
        <p:spPr>
          <a:xfrm>
            <a:off x="6894576" y="804672"/>
            <a:ext cx="2084832" cy="54864"/>
          </a:xfrm>
          <a:prstGeom prst="rect">
            <a:avLst/>
          </a:prstGeom>
          <a:solidFill>
            <a:srgbClr val="DC2626"/>
          </a:solidFill>
          <a:ln/>
        </p:spPr>
      </p:sp>
      <p:sp>
        <p:nvSpPr>
          <p:cNvPr id="70" name="Text 68"/>
          <p:cNvSpPr/>
          <p:nvPr/>
        </p:nvSpPr>
        <p:spPr>
          <a:xfrm>
            <a:off x="6894576" y="859536"/>
            <a:ext cx="2084832" cy="347472"/>
          </a:xfrm>
          <a:prstGeom prst="rect">
            <a:avLst/>
          </a:prstGeom>
          <a:noFill/>
          <a:ln/>
        </p:spPr>
        <p:txBody>
          <a:bodyPr wrap="square"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  Q3/Q4 2026</a:t>
            </a:r>
            <a:endParaRPr lang="en-US" sz="1200" dirty="0"/>
          </a:p>
        </p:txBody>
      </p:sp>
      <p:sp>
        <p:nvSpPr>
          <p:cNvPr id="71" name="Text 69"/>
          <p:cNvSpPr/>
          <p:nvPr/>
        </p:nvSpPr>
        <p:spPr>
          <a:xfrm>
            <a:off x="6894576" y="1188720"/>
            <a:ext cx="2084832" cy="2286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4 Services</a:t>
            </a:r>
            <a:endParaRPr lang="en-US" sz="1000" dirty="0"/>
          </a:p>
        </p:txBody>
      </p:sp>
      <p:sp>
        <p:nvSpPr>
          <p:cNvPr id="72" name="Shape 70"/>
          <p:cNvSpPr/>
          <p:nvPr/>
        </p:nvSpPr>
        <p:spPr>
          <a:xfrm>
            <a:off x="7077456" y="1463040"/>
            <a:ext cx="1719072" cy="18288"/>
          </a:xfrm>
          <a:prstGeom prst="rect">
            <a:avLst/>
          </a:prstGeom>
          <a:solidFill>
            <a:srgbClr val="DC2626"/>
          </a:solidFill>
          <a:ln/>
        </p:spPr>
      </p:sp>
      <p:sp>
        <p:nvSpPr>
          <p:cNvPr id="73" name="Shape 71"/>
          <p:cNvSpPr/>
          <p:nvPr/>
        </p:nvSpPr>
        <p:spPr>
          <a:xfrm>
            <a:off x="7031736" y="1554480"/>
            <a:ext cx="1810512" cy="347472"/>
          </a:xfrm>
          <a:prstGeom prst="rect">
            <a:avLst/>
          </a:prstGeom>
          <a:solidFill>
            <a:srgbClr val="1E3461"/>
          </a:solidFill>
          <a:ln/>
        </p:spPr>
      </p:sp>
      <p:sp>
        <p:nvSpPr>
          <p:cNvPr id="74" name="Shape 72"/>
          <p:cNvSpPr/>
          <p:nvPr/>
        </p:nvSpPr>
        <p:spPr>
          <a:xfrm>
            <a:off x="7031736" y="1554480"/>
            <a:ext cx="54864" cy="347472"/>
          </a:xfrm>
          <a:prstGeom prst="rect">
            <a:avLst/>
          </a:prstGeom>
          <a:solidFill>
            <a:srgbClr val="DC2626"/>
          </a:solidFill>
          <a:ln/>
        </p:spPr>
      </p:sp>
      <p:sp>
        <p:nvSpPr>
          <p:cNvPr id="75" name="Text 73"/>
          <p:cNvSpPr/>
          <p:nvPr/>
        </p:nvSpPr>
        <p:spPr>
          <a:xfrm>
            <a:off x="7141464" y="1554480"/>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Person Profile v4</a:t>
            </a:r>
            <a:endParaRPr lang="en-US" sz="850" dirty="0"/>
          </a:p>
        </p:txBody>
      </p:sp>
      <p:sp>
        <p:nvSpPr>
          <p:cNvPr id="76" name="Shape 74"/>
          <p:cNvSpPr/>
          <p:nvPr/>
        </p:nvSpPr>
        <p:spPr>
          <a:xfrm>
            <a:off x="7031736" y="1975104"/>
            <a:ext cx="1810512" cy="347472"/>
          </a:xfrm>
          <a:prstGeom prst="rect">
            <a:avLst/>
          </a:prstGeom>
          <a:solidFill>
            <a:srgbClr val="1E3461"/>
          </a:solidFill>
          <a:ln/>
        </p:spPr>
      </p:sp>
      <p:sp>
        <p:nvSpPr>
          <p:cNvPr id="77" name="Shape 75"/>
          <p:cNvSpPr/>
          <p:nvPr/>
        </p:nvSpPr>
        <p:spPr>
          <a:xfrm>
            <a:off x="7031736" y="1975104"/>
            <a:ext cx="54864" cy="347472"/>
          </a:xfrm>
          <a:prstGeom prst="rect">
            <a:avLst/>
          </a:prstGeom>
          <a:solidFill>
            <a:srgbClr val="DC2626"/>
          </a:solidFill>
          <a:ln/>
        </p:spPr>
      </p:sp>
      <p:sp>
        <p:nvSpPr>
          <p:cNvPr id="78" name="Text 76"/>
          <p:cNvSpPr/>
          <p:nvPr/>
        </p:nvSpPr>
        <p:spPr>
          <a:xfrm>
            <a:off x="7141464" y="1975104"/>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Loan Management V1</a:t>
            </a:r>
            <a:endParaRPr lang="en-US" sz="850" dirty="0"/>
          </a:p>
        </p:txBody>
      </p:sp>
      <p:sp>
        <p:nvSpPr>
          <p:cNvPr id="79" name="Shape 77"/>
          <p:cNvSpPr/>
          <p:nvPr/>
        </p:nvSpPr>
        <p:spPr>
          <a:xfrm>
            <a:off x="7031736" y="2395728"/>
            <a:ext cx="1810512" cy="347472"/>
          </a:xfrm>
          <a:prstGeom prst="rect">
            <a:avLst/>
          </a:prstGeom>
          <a:solidFill>
            <a:srgbClr val="1E3461"/>
          </a:solidFill>
          <a:ln/>
        </p:spPr>
      </p:sp>
      <p:sp>
        <p:nvSpPr>
          <p:cNvPr id="80" name="Shape 78"/>
          <p:cNvSpPr/>
          <p:nvPr/>
        </p:nvSpPr>
        <p:spPr>
          <a:xfrm>
            <a:off x="7031736" y="2395728"/>
            <a:ext cx="54864" cy="347472"/>
          </a:xfrm>
          <a:prstGeom prst="rect">
            <a:avLst/>
          </a:prstGeom>
          <a:solidFill>
            <a:srgbClr val="DC2626"/>
          </a:solidFill>
          <a:ln/>
        </p:spPr>
      </p:sp>
      <p:sp>
        <p:nvSpPr>
          <p:cNvPr id="81" name="Text 79"/>
          <p:cNvSpPr/>
          <p:nvPr/>
        </p:nvSpPr>
        <p:spPr>
          <a:xfrm>
            <a:off x="7141464" y="2395728"/>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Financial Mgmt V2</a:t>
            </a:r>
            <a:endParaRPr lang="en-US" sz="850" dirty="0"/>
          </a:p>
        </p:txBody>
      </p:sp>
      <p:sp>
        <p:nvSpPr>
          <p:cNvPr id="82" name="Shape 80"/>
          <p:cNvSpPr/>
          <p:nvPr/>
        </p:nvSpPr>
        <p:spPr>
          <a:xfrm>
            <a:off x="7031736" y="2816352"/>
            <a:ext cx="1810512" cy="347472"/>
          </a:xfrm>
          <a:prstGeom prst="rect">
            <a:avLst/>
          </a:prstGeom>
          <a:solidFill>
            <a:srgbClr val="1E3461"/>
          </a:solidFill>
          <a:ln/>
        </p:spPr>
      </p:sp>
      <p:sp>
        <p:nvSpPr>
          <p:cNvPr id="83" name="Shape 81"/>
          <p:cNvSpPr/>
          <p:nvPr/>
        </p:nvSpPr>
        <p:spPr>
          <a:xfrm>
            <a:off x="7031736" y="2816352"/>
            <a:ext cx="54864" cy="347472"/>
          </a:xfrm>
          <a:prstGeom prst="rect">
            <a:avLst/>
          </a:prstGeom>
          <a:solidFill>
            <a:srgbClr val="DC2626"/>
          </a:solidFill>
          <a:ln/>
        </p:spPr>
      </p:sp>
      <p:sp>
        <p:nvSpPr>
          <p:cNvPr id="84" name="Text 82"/>
          <p:cNvSpPr/>
          <p:nvPr/>
        </p:nvSpPr>
        <p:spPr>
          <a:xfrm>
            <a:off x="7141464" y="2816352"/>
            <a:ext cx="1664208"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Activity Service v2</a:t>
            </a:r>
            <a:endParaRPr lang="en-US" sz="850" dirty="0"/>
          </a:p>
        </p:txBody>
      </p:sp>
      <p:sp>
        <p:nvSpPr>
          <p:cNvPr id="85" name="Text 83"/>
          <p:cNvSpPr/>
          <p:nvPr/>
        </p:nvSpPr>
        <p:spPr>
          <a:xfrm>
            <a:off x="228600" y="4846320"/>
            <a:ext cx="868680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The roadmap follows a deliberate sequencing strategy — establishing a stable production foundation in 2025, accelerating through Q1–Q2 2026, and completing the most complex JMS-dependent services in the final phase.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p:spPr>
      </p:sp>
      <p:sp>
        <p:nvSpPr>
          <p:cNvPr id="3" name="Shape 1"/>
          <p:cNvSpPr/>
          <p:nvPr/>
        </p:nvSpPr>
        <p:spPr>
          <a:xfrm>
            <a:off x="0" y="658368"/>
            <a:ext cx="9144000" cy="36576"/>
          </a:xfrm>
          <a:prstGeom prst="rect">
            <a:avLst/>
          </a:prstGeom>
          <a:solidFill>
            <a:srgbClr val="3B82F6"/>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Delivery Principles — How We Execute</a:t>
            </a:r>
            <a:endParaRPr lang="en-US" sz="2000" dirty="0"/>
          </a:p>
        </p:txBody>
      </p:sp>
      <p:sp>
        <p:nvSpPr>
          <p:cNvPr id="5" name="Text 3"/>
          <p:cNvSpPr/>
          <p:nvPr/>
        </p:nvSpPr>
        <p:spPr>
          <a:xfrm>
            <a:off x="365760" y="777240"/>
            <a:ext cx="8412480" cy="36576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These principles govern how services move through the delivery pipeline, ensuring quality, alignment, and predictability across all program increments.</a:t>
            </a:r>
            <a:endParaRPr lang="en-US" sz="1200" dirty="0"/>
          </a:p>
        </p:txBody>
      </p:sp>
      <p:sp>
        <p:nvSpPr>
          <p:cNvPr id="6" name="Shape 4"/>
          <p:cNvSpPr/>
          <p:nvPr/>
        </p:nvSpPr>
        <p:spPr>
          <a:xfrm>
            <a:off x="365760" y="1261872"/>
            <a:ext cx="841248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65760" y="1261872"/>
            <a:ext cx="91440" cy="685800"/>
          </a:xfrm>
          <a:prstGeom prst="rect">
            <a:avLst/>
          </a:prstGeom>
          <a:solidFill>
            <a:srgbClr val="2563EB"/>
          </a:solidFill>
          <a:ln/>
        </p:spPr>
      </p:sp>
      <p:sp>
        <p:nvSpPr>
          <p:cNvPr id="8" name="Shape 6"/>
          <p:cNvSpPr/>
          <p:nvPr/>
        </p:nvSpPr>
        <p:spPr>
          <a:xfrm>
            <a:off x="548640" y="1408176"/>
            <a:ext cx="384048" cy="384048"/>
          </a:xfrm>
          <a:prstGeom prst="ellipse">
            <a:avLst/>
          </a:prstGeom>
          <a:solidFill>
            <a:srgbClr val="2563EB"/>
          </a:solidFill>
          <a:ln/>
        </p:spPr>
      </p:sp>
      <p:sp>
        <p:nvSpPr>
          <p:cNvPr id="9" name="Text 7"/>
          <p:cNvSpPr/>
          <p:nvPr/>
        </p:nvSpPr>
        <p:spPr>
          <a:xfrm>
            <a:off x="548640" y="140817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051560" y="1335024"/>
            <a:ext cx="2926080" cy="25603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Stage Gate Enforcement</a:t>
            </a:r>
            <a:endParaRPr lang="en-US" sz="1200" dirty="0"/>
          </a:p>
        </p:txBody>
      </p:sp>
      <p:sp>
        <p:nvSpPr>
          <p:cNvPr id="11" name="Text 9"/>
          <p:cNvSpPr/>
          <p:nvPr/>
        </p:nvSpPr>
        <p:spPr>
          <a:xfrm>
            <a:off x="1051560" y="1609344"/>
            <a:ext cx="75895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DEV → QA → PROD stage gates are strictly enforced before any sprint promotion. No service advances without passing the prior gate, ensuring quality is never compromised for speed.</a:t>
            </a:r>
            <a:endParaRPr lang="en-US" sz="1000" dirty="0"/>
          </a:p>
        </p:txBody>
      </p:sp>
      <p:sp>
        <p:nvSpPr>
          <p:cNvPr id="12" name="Shape 10"/>
          <p:cNvSpPr/>
          <p:nvPr/>
        </p:nvSpPr>
        <p:spPr>
          <a:xfrm>
            <a:off x="365760" y="2029968"/>
            <a:ext cx="841248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365760" y="2029968"/>
            <a:ext cx="91440" cy="685800"/>
          </a:xfrm>
          <a:prstGeom prst="rect">
            <a:avLst/>
          </a:prstGeom>
          <a:solidFill>
            <a:srgbClr val="0D9488"/>
          </a:solidFill>
          <a:ln/>
        </p:spPr>
      </p:sp>
      <p:sp>
        <p:nvSpPr>
          <p:cNvPr id="14" name="Shape 12"/>
          <p:cNvSpPr/>
          <p:nvPr/>
        </p:nvSpPr>
        <p:spPr>
          <a:xfrm>
            <a:off x="548640" y="2176272"/>
            <a:ext cx="384048" cy="384048"/>
          </a:xfrm>
          <a:prstGeom prst="ellipse">
            <a:avLst/>
          </a:prstGeom>
          <a:solidFill>
            <a:srgbClr val="0D9488"/>
          </a:solidFill>
          <a:ln/>
        </p:spPr>
      </p:sp>
      <p:sp>
        <p:nvSpPr>
          <p:cNvPr id="15" name="Text 13"/>
          <p:cNvSpPr/>
          <p:nvPr/>
        </p:nvSpPr>
        <p:spPr>
          <a:xfrm>
            <a:off x="548640" y="217627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051560" y="2103120"/>
            <a:ext cx="2926080" cy="25603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Enabler Story Resolution First</a:t>
            </a:r>
            <a:endParaRPr lang="en-US" sz="1200" dirty="0"/>
          </a:p>
        </p:txBody>
      </p:sp>
      <p:sp>
        <p:nvSpPr>
          <p:cNvPr id="17" name="Text 15"/>
          <p:cNvSpPr/>
          <p:nvPr/>
        </p:nvSpPr>
        <p:spPr>
          <a:xfrm>
            <a:off x="1051560" y="2377440"/>
            <a:ext cx="75895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All Enabler Stories must be resolved before dependent services enter active development. These architectural prerequisites are non-negotiable and must be tracked at the program level.</a:t>
            </a:r>
            <a:endParaRPr lang="en-US" sz="1000" dirty="0"/>
          </a:p>
        </p:txBody>
      </p:sp>
      <p:sp>
        <p:nvSpPr>
          <p:cNvPr id="18" name="Shape 16"/>
          <p:cNvSpPr/>
          <p:nvPr/>
        </p:nvSpPr>
        <p:spPr>
          <a:xfrm>
            <a:off x="365760" y="2798064"/>
            <a:ext cx="841248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365760" y="2798064"/>
            <a:ext cx="91440" cy="685800"/>
          </a:xfrm>
          <a:prstGeom prst="rect">
            <a:avLst/>
          </a:prstGeom>
          <a:solidFill>
            <a:srgbClr val="DC2626"/>
          </a:solidFill>
          <a:ln/>
        </p:spPr>
      </p:sp>
      <p:sp>
        <p:nvSpPr>
          <p:cNvPr id="20" name="Shape 18"/>
          <p:cNvSpPr/>
          <p:nvPr/>
        </p:nvSpPr>
        <p:spPr>
          <a:xfrm>
            <a:off x="548640" y="2944368"/>
            <a:ext cx="384048" cy="384048"/>
          </a:xfrm>
          <a:prstGeom prst="ellipse">
            <a:avLst/>
          </a:prstGeom>
          <a:solidFill>
            <a:srgbClr val="DC2626"/>
          </a:solidFill>
          <a:ln/>
        </p:spPr>
      </p:sp>
      <p:sp>
        <p:nvSpPr>
          <p:cNvPr id="21" name="Text 19"/>
          <p:cNvSpPr/>
          <p:nvPr/>
        </p:nvSpPr>
        <p:spPr>
          <a:xfrm>
            <a:off x="548640" y="294436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051560" y="2871216"/>
            <a:ext cx="2926080" cy="25603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JMS on the Critical Path</a:t>
            </a:r>
            <a:endParaRPr lang="en-US" sz="1200" dirty="0"/>
          </a:p>
        </p:txBody>
      </p:sp>
      <p:sp>
        <p:nvSpPr>
          <p:cNvPr id="23" name="Text 21"/>
          <p:cNvSpPr/>
          <p:nvPr/>
        </p:nvSpPr>
        <p:spPr>
          <a:xfrm>
            <a:off x="1051560" y="3145536"/>
            <a:ext cx="75895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JMS migration is a program-level dependency affecting 6 services across Q2 and Q3/Q4. It is on the critical path and must be owned, resourced, and tracked with the highest priority.</a:t>
            </a:r>
            <a:endParaRPr lang="en-US" sz="1000" dirty="0"/>
          </a:p>
        </p:txBody>
      </p:sp>
      <p:sp>
        <p:nvSpPr>
          <p:cNvPr id="24" name="Shape 22"/>
          <p:cNvSpPr/>
          <p:nvPr/>
        </p:nvSpPr>
        <p:spPr>
          <a:xfrm>
            <a:off x="365760" y="3566160"/>
            <a:ext cx="841248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365760" y="3566160"/>
            <a:ext cx="91440" cy="685800"/>
          </a:xfrm>
          <a:prstGeom prst="rect">
            <a:avLst/>
          </a:prstGeom>
          <a:solidFill>
            <a:srgbClr val="D97706"/>
          </a:solidFill>
          <a:ln/>
        </p:spPr>
      </p:sp>
      <p:sp>
        <p:nvSpPr>
          <p:cNvPr id="26" name="Shape 24"/>
          <p:cNvSpPr/>
          <p:nvPr/>
        </p:nvSpPr>
        <p:spPr>
          <a:xfrm>
            <a:off x="548640" y="3712464"/>
            <a:ext cx="384048" cy="384048"/>
          </a:xfrm>
          <a:prstGeom prst="ellipse">
            <a:avLst/>
          </a:prstGeom>
          <a:solidFill>
            <a:srgbClr val="D97706"/>
          </a:solidFill>
          <a:ln/>
        </p:spPr>
      </p:sp>
      <p:sp>
        <p:nvSpPr>
          <p:cNvPr id="27" name="Text 25"/>
          <p:cNvSpPr/>
          <p:nvPr/>
        </p:nvSpPr>
        <p:spPr>
          <a:xfrm>
            <a:off x="54864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1051560" y="3639312"/>
            <a:ext cx="2926080" cy="25603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Sprint Assignment Locking</a:t>
            </a:r>
            <a:endParaRPr lang="en-US" sz="1200" dirty="0"/>
          </a:p>
        </p:txBody>
      </p:sp>
      <p:sp>
        <p:nvSpPr>
          <p:cNvPr id="29" name="Text 27"/>
          <p:cNvSpPr/>
          <p:nvPr/>
        </p:nvSpPr>
        <p:spPr>
          <a:xfrm>
            <a:off x="1051560" y="3913632"/>
            <a:ext cx="75895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Sprint assignments for TBD services will be locked following Enabler Story completion. This prevents premature commitment and ensures capacity is allocated to ready work.</a:t>
            </a:r>
            <a:endParaRPr lang="en-US" sz="1000" dirty="0"/>
          </a:p>
        </p:txBody>
      </p:sp>
      <p:sp>
        <p:nvSpPr>
          <p:cNvPr id="30" name="Shape 28"/>
          <p:cNvSpPr/>
          <p:nvPr/>
        </p:nvSpPr>
        <p:spPr>
          <a:xfrm>
            <a:off x="365760" y="4334256"/>
            <a:ext cx="841248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9"/>
          <p:cNvSpPr/>
          <p:nvPr/>
        </p:nvSpPr>
        <p:spPr>
          <a:xfrm>
            <a:off x="365760" y="4334256"/>
            <a:ext cx="91440" cy="685800"/>
          </a:xfrm>
          <a:prstGeom prst="rect">
            <a:avLst/>
          </a:prstGeom>
          <a:solidFill>
            <a:srgbClr val="16A34A"/>
          </a:solidFill>
          <a:ln/>
        </p:spPr>
      </p:sp>
      <p:sp>
        <p:nvSpPr>
          <p:cNvPr id="32" name="Shape 30"/>
          <p:cNvSpPr/>
          <p:nvPr/>
        </p:nvSpPr>
        <p:spPr>
          <a:xfrm>
            <a:off x="548640" y="4480560"/>
            <a:ext cx="384048" cy="384048"/>
          </a:xfrm>
          <a:prstGeom prst="ellipse">
            <a:avLst/>
          </a:prstGeom>
          <a:solidFill>
            <a:srgbClr val="16A34A"/>
          </a:solidFill>
          <a:ln/>
        </p:spPr>
      </p:sp>
      <p:sp>
        <p:nvSpPr>
          <p:cNvPr id="33" name="Text 31"/>
          <p:cNvSpPr/>
          <p:nvPr/>
        </p:nvSpPr>
        <p:spPr>
          <a:xfrm>
            <a:off x="548640" y="44805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p:nvPr/>
        </p:nvSpPr>
        <p:spPr>
          <a:xfrm>
            <a:off x="1051560" y="4407408"/>
            <a:ext cx="2926080" cy="25603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PI-to-Quarter Alignment</a:t>
            </a:r>
            <a:endParaRPr lang="en-US" sz="1200" dirty="0"/>
          </a:p>
        </p:txBody>
      </p:sp>
      <p:sp>
        <p:nvSpPr>
          <p:cNvPr id="35" name="Text 33"/>
          <p:cNvSpPr/>
          <p:nvPr/>
        </p:nvSpPr>
        <p:spPr>
          <a:xfrm>
            <a:off x="1051560" y="4681728"/>
            <a:ext cx="75895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Program Increments (PIs) are mapped to calendar quarters for business alignment, ensuring engineering delivery cadence is synchronized with organizational planning cycles.</a:t>
            </a:r>
            <a:endParaRPr lang="en-US" sz="1000" dirty="0"/>
          </a:p>
        </p:txBody>
      </p:sp>
      <p:sp>
        <p:nvSpPr>
          <p:cNvPr id="36" name="Shape 34"/>
          <p:cNvSpPr/>
          <p:nvPr/>
        </p:nvSpPr>
        <p:spPr>
          <a:xfrm>
            <a:off x="0" y="4956048"/>
            <a:ext cx="9144000" cy="201168"/>
          </a:xfrm>
          <a:prstGeom prst="rect">
            <a:avLst/>
          </a:prstGeom>
          <a:solidFill>
            <a:srgbClr val="152848"/>
          </a:solidFill>
          <a:ln/>
        </p:spPr>
      </p:sp>
      <p:sp>
        <p:nvSpPr>
          <p:cNvPr id="37" name="Text 35"/>
          <p:cNvSpPr/>
          <p:nvPr/>
        </p:nvSpPr>
        <p:spPr>
          <a:xfrm>
            <a:off x="0" y="4956048"/>
            <a:ext cx="9144000" cy="201168"/>
          </a:xfrm>
          <a:prstGeom prst="rect">
            <a:avLst/>
          </a:prstGeom>
          <a:noFill/>
          <a:ln/>
        </p:spPr>
        <p:txBody>
          <a:bodyPr wrap="square" rtlCol="0" anchor="ctr"/>
          <a:lstStyle/>
          <a:p>
            <a:pPr algn="ctr" indent="0" marL="0">
              <a:buNone/>
            </a:pPr>
            <a:r>
              <a:rPr lang="en-US" sz="800" dirty="0">
                <a:solidFill>
                  <a:srgbClr val="CBD5E1"/>
                </a:solidFill>
                <a:latin typeface="Calibri" pitchFamily="34" charset="0"/>
                <a:ea typeface="Calibri" pitchFamily="34" charset="-122"/>
                <a:cs typeface="Calibri" pitchFamily="34" charset="-120"/>
              </a:rPr>
              <a:t>CONFIDENTIAL  |  Enterprise IT Modernization Initiative  |  Leadership Review</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C2626"/>
          </a:solidFill>
          <a:ln/>
        </p:spPr>
      </p:sp>
      <p:sp>
        <p:nvSpPr>
          <p:cNvPr id="3" name="Shape 1"/>
          <p:cNvSpPr/>
          <p:nvPr/>
        </p:nvSpPr>
        <p:spPr>
          <a:xfrm>
            <a:off x="0" y="658368"/>
            <a:ext cx="9144000" cy="36576"/>
          </a:xfrm>
          <a:prstGeom prst="rect">
            <a:avLst/>
          </a:prstGeom>
          <a:solidFill>
            <a:srgbClr val="D97706"/>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Next Steps — Action Items for Leadership</a:t>
            </a:r>
            <a:endParaRPr lang="en-US" sz="2000" dirty="0"/>
          </a:p>
        </p:txBody>
      </p:sp>
      <p:sp>
        <p:nvSpPr>
          <p:cNvPr id="5" name="Text 3"/>
          <p:cNvSpPr/>
          <p:nvPr/>
        </p:nvSpPr>
        <p:spPr>
          <a:xfrm>
            <a:off x="365760" y="777240"/>
            <a:ext cx="8412480" cy="347472"/>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Five critical actions must be taken by leadership to unblock the roadmap and ensure on-time delivery across all phases.</a:t>
            </a:r>
            <a:endParaRPr lang="en-US" sz="1200" dirty="0"/>
          </a:p>
        </p:txBody>
      </p:sp>
      <p:sp>
        <p:nvSpPr>
          <p:cNvPr id="6" name="Shape 4"/>
          <p:cNvSpPr/>
          <p:nvPr/>
        </p:nvSpPr>
        <p:spPr>
          <a:xfrm>
            <a:off x="365760" y="1188720"/>
            <a:ext cx="8412480" cy="603504"/>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7" name="Shape 5"/>
          <p:cNvSpPr/>
          <p:nvPr/>
        </p:nvSpPr>
        <p:spPr>
          <a:xfrm>
            <a:off x="365760" y="1188720"/>
            <a:ext cx="91440" cy="603504"/>
          </a:xfrm>
          <a:prstGeom prst="rect">
            <a:avLst/>
          </a:prstGeom>
          <a:solidFill>
            <a:srgbClr val="DC2626"/>
          </a:solidFill>
          <a:ln/>
        </p:spPr>
      </p:sp>
      <p:sp>
        <p:nvSpPr>
          <p:cNvPr id="8" name="Shape 6"/>
          <p:cNvSpPr/>
          <p:nvPr/>
        </p:nvSpPr>
        <p:spPr>
          <a:xfrm>
            <a:off x="548640" y="1298448"/>
            <a:ext cx="365760" cy="365760"/>
          </a:xfrm>
          <a:prstGeom prst="ellipse">
            <a:avLst/>
          </a:prstGeom>
          <a:solidFill>
            <a:srgbClr val="DC2626"/>
          </a:solidFill>
          <a:ln/>
        </p:spPr>
      </p:sp>
      <p:sp>
        <p:nvSpPr>
          <p:cNvPr id="9" name="Text 7"/>
          <p:cNvSpPr/>
          <p:nvPr/>
        </p:nvSpPr>
        <p:spPr>
          <a:xfrm>
            <a:off x="548640" y="129844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Shape 8"/>
          <p:cNvSpPr/>
          <p:nvPr/>
        </p:nvSpPr>
        <p:spPr>
          <a:xfrm>
            <a:off x="7772400" y="1362456"/>
            <a:ext cx="914400" cy="219456"/>
          </a:xfrm>
          <a:prstGeom prst="roundRect">
            <a:avLst>
              <a:gd name="adj" fmla="val 20833"/>
            </a:avLst>
          </a:prstGeom>
          <a:solidFill>
            <a:srgbClr val="DC2626"/>
          </a:solidFill>
          <a:ln/>
        </p:spPr>
      </p:sp>
      <p:sp>
        <p:nvSpPr>
          <p:cNvPr id="11" name="Text 9"/>
          <p:cNvSpPr/>
          <p:nvPr/>
        </p:nvSpPr>
        <p:spPr>
          <a:xfrm>
            <a:off x="7772400" y="1362456"/>
            <a:ext cx="91440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12" name="Text 10"/>
          <p:cNvSpPr/>
          <p:nvPr/>
        </p:nvSpPr>
        <p:spPr>
          <a:xfrm>
            <a:off x="1051560" y="1243584"/>
            <a:ext cx="65836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Confirm JMS Modernization Ownership</a:t>
            </a:r>
            <a:endParaRPr lang="en-US" sz="1200" dirty="0"/>
          </a:p>
        </p:txBody>
      </p:sp>
      <p:sp>
        <p:nvSpPr>
          <p:cNvPr id="13" name="Text 11"/>
          <p:cNvSpPr/>
          <p:nvPr/>
        </p:nvSpPr>
        <p:spPr>
          <a:xfrm>
            <a:off x="1051560" y="1508760"/>
            <a:ext cx="658368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Assign a named owner and confirm the delivery timeline for JMS modernization. 6 services across Q2 and Q3/Q4 are blocked until resolved.</a:t>
            </a:r>
            <a:endParaRPr lang="en-US" sz="1000" dirty="0"/>
          </a:p>
        </p:txBody>
      </p:sp>
      <p:sp>
        <p:nvSpPr>
          <p:cNvPr id="14" name="Shape 12"/>
          <p:cNvSpPr/>
          <p:nvPr/>
        </p:nvSpPr>
        <p:spPr>
          <a:xfrm>
            <a:off x="365760" y="1865376"/>
            <a:ext cx="8412480" cy="603504"/>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15" name="Shape 13"/>
          <p:cNvSpPr/>
          <p:nvPr/>
        </p:nvSpPr>
        <p:spPr>
          <a:xfrm>
            <a:off x="365760" y="1865376"/>
            <a:ext cx="91440" cy="603504"/>
          </a:xfrm>
          <a:prstGeom prst="rect">
            <a:avLst/>
          </a:prstGeom>
          <a:solidFill>
            <a:srgbClr val="DC2626"/>
          </a:solidFill>
          <a:ln/>
        </p:spPr>
      </p:sp>
      <p:sp>
        <p:nvSpPr>
          <p:cNvPr id="16" name="Shape 14"/>
          <p:cNvSpPr/>
          <p:nvPr/>
        </p:nvSpPr>
        <p:spPr>
          <a:xfrm>
            <a:off x="548640" y="1975104"/>
            <a:ext cx="365760" cy="365760"/>
          </a:xfrm>
          <a:prstGeom prst="ellipse">
            <a:avLst/>
          </a:prstGeom>
          <a:solidFill>
            <a:srgbClr val="DC2626"/>
          </a:solidFill>
          <a:ln/>
        </p:spPr>
      </p:sp>
      <p:sp>
        <p:nvSpPr>
          <p:cNvPr id="17" name="Text 15"/>
          <p:cNvSpPr/>
          <p:nvPr/>
        </p:nvSpPr>
        <p:spPr>
          <a:xfrm>
            <a:off x="548640" y="197510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Shape 16"/>
          <p:cNvSpPr/>
          <p:nvPr/>
        </p:nvSpPr>
        <p:spPr>
          <a:xfrm>
            <a:off x="7772400" y="2039112"/>
            <a:ext cx="914400" cy="219456"/>
          </a:xfrm>
          <a:prstGeom prst="roundRect">
            <a:avLst>
              <a:gd name="adj" fmla="val 20833"/>
            </a:avLst>
          </a:prstGeom>
          <a:solidFill>
            <a:srgbClr val="DC2626"/>
          </a:solidFill>
          <a:ln/>
        </p:spPr>
      </p:sp>
      <p:sp>
        <p:nvSpPr>
          <p:cNvPr id="19" name="Text 17"/>
          <p:cNvSpPr/>
          <p:nvPr/>
        </p:nvSpPr>
        <p:spPr>
          <a:xfrm>
            <a:off x="7772400" y="2039112"/>
            <a:ext cx="91440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20" name="Text 18"/>
          <p:cNvSpPr/>
          <p:nvPr/>
        </p:nvSpPr>
        <p:spPr>
          <a:xfrm>
            <a:off x="1051560" y="1920240"/>
            <a:ext cx="65836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Prioritize Enabler Story Backlog</a:t>
            </a:r>
            <a:endParaRPr lang="en-US" sz="1200" dirty="0"/>
          </a:p>
        </p:txBody>
      </p:sp>
      <p:sp>
        <p:nvSpPr>
          <p:cNvPr id="21" name="Text 19"/>
          <p:cNvSpPr/>
          <p:nvPr/>
        </p:nvSpPr>
        <p:spPr>
          <a:xfrm>
            <a:off x="1051560" y="2185416"/>
            <a:ext cx="658368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Prioritize and schedule the Enabler Story backlog for Q2 and Q3/Q4. 9 of 20 services require Enabler Stories before active development.</a:t>
            </a:r>
            <a:endParaRPr lang="en-US" sz="1000" dirty="0"/>
          </a:p>
        </p:txBody>
      </p:sp>
      <p:sp>
        <p:nvSpPr>
          <p:cNvPr id="22" name="Shape 20"/>
          <p:cNvSpPr/>
          <p:nvPr/>
        </p:nvSpPr>
        <p:spPr>
          <a:xfrm>
            <a:off x="365760" y="2542032"/>
            <a:ext cx="8412480" cy="603504"/>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23" name="Shape 21"/>
          <p:cNvSpPr/>
          <p:nvPr/>
        </p:nvSpPr>
        <p:spPr>
          <a:xfrm>
            <a:off x="365760" y="2542032"/>
            <a:ext cx="91440" cy="603504"/>
          </a:xfrm>
          <a:prstGeom prst="rect">
            <a:avLst/>
          </a:prstGeom>
          <a:solidFill>
            <a:srgbClr val="D97706"/>
          </a:solidFill>
          <a:ln/>
        </p:spPr>
      </p:sp>
      <p:sp>
        <p:nvSpPr>
          <p:cNvPr id="24" name="Shape 22"/>
          <p:cNvSpPr/>
          <p:nvPr/>
        </p:nvSpPr>
        <p:spPr>
          <a:xfrm>
            <a:off x="548640" y="2651760"/>
            <a:ext cx="365760" cy="365760"/>
          </a:xfrm>
          <a:prstGeom prst="ellipse">
            <a:avLst/>
          </a:prstGeom>
          <a:solidFill>
            <a:srgbClr val="D97706"/>
          </a:solidFill>
          <a:ln/>
        </p:spPr>
      </p:sp>
      <p:sp>
        <p:nvSpPr>
          <p:cNvPr id="25" name="Text 23"/>
          <p:cNvSpPr/>
          <p:nvPr/>
        </p:nvSpPr>
        <p:spPr>
          <a:xfrm>
            <a:off x="548640" y="2651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Shape 24"/>
          <p:cNvSpPr/>
          <p:nvPr/>
        </p:nvSpPr>
        <p:spPr>
          <a:xfrm>
            <a:off x="7772400" y="2715768"/>
            <a:ext cx="914400" cy="219456"/>
          </a:xfrm>
          <a:prstGeom prst="roundRect">
            <a:avLst>
              <a:gd name="adj" fmla="val 20833"/>
            </a:avLst>
          </a:prstGeom>
          <a:solidFill>
            <a:srgbClr val="D97706"/>
          </a:solidFill>
          <a:ln/>
        </p:spPr>
      </p:sp>
      <p:sp>
        <p:nvSpPr>
          <p:cNvPr id="27" name="Text 25"/>
          <p:cNvSpPr/>
          <p:nvPr/>
        </p:nvSpPr>
        <p:spPr>
          <a:xfrm>
            <a:off x="7772400" y="2715768"/>
            <a:ext cx="91440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Text 26"/>
          <p:cNvSpPr/>
          <p:nvPr/>
        </p:nvSpPr>
        <p:spPr>
          <a:xfrm>
            <a:off x="1051560" y="2596896"/>
            <a:ext cx="65836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Escalate External Dependency</a:t>
            </a:r>
            <a:endParaRPr lang="en-US" sz="1200" dirty="0"/>
          </a:p>
        </p:txBody>
      </p:sp>
      <p:sp>
        <p:nvSpPr>
          <p:cNvPr id="29" name="Text 27"/>
          <p:cNvSpPr/>
          <p:nvPr/>
        </p:nvSpPr>
        <p:spPr>
          <a:xfrm>
            <a:off x="1051560" y="2862072"/>
            <a:ext cx="658368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Escalate the external system integration for Credit Reporting V2. Confirm partner availability, contract status, and integration timeline.</a:t>
            </a:r>
            <a:endParaRPr lang="en-US" sz="1000" dirty="0"/>
          </a:p>
        </p:txBody>
      </p:sp>
      <p:sp>
        <p:nvSpPr>
          <p:cNvPr id="30" name="Shape 28"/>
          <p:cNvSpPr/>
          <p:nvPr/>
        </p:nvSpPr>
        <p:spPr>
          <a:xfrm>
            <a:off x="365760" y="3218688"/>
            <a:ext cx="8412480" cy="603504"/>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31" name="Shape 29"/>
          <p:cNvSpPr/>
          <p:nvPr/>
        </p:nvSpPr>
        <p:spPr>
          <a:xfrm>
            <a:off x="365760" y="3218688"/>
            <a:ext cx="91440" cy="603504"/>
          </a:xfrm>
          <a:prstGeom prst="rect">
            <a:avLst/>
          </a:prstGeom>
          <a:solidFill>
            <a:srgbClr val="D97706"/>
          </a:solidFill>
          <a:ln/>
        </p:spPr>
      </p:sp>
      <p:sp>
        <p:nvSpPr>
          <p:cNvPr id="32" name="Shape 30"/>
          <p:cNvSpPr/>
          <p:nvPr/>
        </p:nvSpPr>
        <p:spPr>
          <a:xfrm>
            <a:off x="548640" y="3328416"/>
            <a:ext cx="365760" cy="365760"/>
          </a:xfrm>
          <a:prstGeom prst="ellipse">
            <a:avLst/>
          </a:prstGeom>
          <a:solidFill>
            <a:srgbClr val="D97706"/>
          </a:solidFill>
          <a:ln/>
        </p:spPr>
      </p:sp>
      <p:sp>
        <p:nvSpPr>
          <p:cNvPr id="33" name="Text 31"/>
          <p:cNvSpPr/>
          <p:nvPr/>
        </p:nvSpPr>
        <p:spPr>
          <a:xfrm>
            <a:off x="548640" y="332841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4" name="Shape 32"/>
          <p:cNvSpPr/>
          <p:nvPr/>
        </p:nvSpPr>
        <p:spPr>
          <a:xfrm>
            <a:off x="7772400" y="3392424"/>
            <a:ext cx="914400" cy="219456"/>
          </a:xfrm>
          <a:prstGeom prst="roundRect">
            <a:avLst>
              <a:gd name="adj" fmla="val 20833"/>
            </a:avLst>
          </a:prstGeom>
          <a:solidFill>
            <a:srgbClr val="D97706"/>
          </a:solidFill>
          <a:ln/>
        </p:spPr>
      </p:sp>
      <p:sp>
        <p:nvSpPr>
          <p:cNvPr id="35" name="Text 33"/>
          <p:cNvSpPr/>
          <p:nvPr/>
        </p:nvSpPr>
        <p:spPr>
          <a:xfrm>
            <a:off x="7772400" y="3392424"/>
            <a:ext cx="91440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6" name="Text 34"/>
          <p:cNvSpPr/>
          <p:nvPr/>
        </p:nvSpPr>
        <p:spPr>
          <a:xfrm>
            <a:off x="1051560" y="3273552"/>
            <a:ext cx="65836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Lock Sprint Assignments</a:t>
            </a:r>
            <a:endParaRPr lang="en-US" sz="1200" dirty="0"/>
          </a:p>
        </p:txBody>
      </p:sp>
      <p:sp>
        <p:nvSpPr>
          <p:cNvPr id="37" name="Text 35"/>
          <p:cNvSpPr/>
          <p:nvPr/>
        </p:nvSpPr>
        <p:spPr>
          <a:xfrm>
            <a:off x="1051560" y="3538728"/>
            <a:ext cx="658368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Lock sprint assignments for all TBD services in the Q1 planning session. Capacity must be allocated to ready work before the quarter begins.</a:t>
            </a:r>
            <a:endParaRPr lang="en-US" sz="1000" dirty="0"/>
          </a:p>
        </p:txBody>
      </p:sp>
      <p:sp>
        <p:nvSpPr>
          <p:cNvPr id="38" name="Shape 36"/>
          <p:cNvSpPr/>
          <p:nvPr/>
        </p:nvSpPr>
        <p:spPr>
          <a:xfrm>
            <a:off x="365760" y="3895344"/>
            <a:ext cx="8412480" cy="603504"/>
          </a:xfrm>
          <a:prstGeom prst="rect">
            <a:avLst/>
          </a:prstGeom>
          <a:solidFill>
            <a:srgbClr val="152848"/>
          </a:solidFill>
          <a:ln/>
          <a:effectLst>
            <a:outerShdw sx="100000" sy="100000" kx="0" ky="0" algn="bl" rotWithShape="0" blurRad="76200" dist="25400" dir="8100000">
              <a:srgbClr val="000000">
                <a:alpha val="12000"/>
              </a:srgbClr>
            </a:outerShdw>
          </a:effectLst>
        </p:spPr>
      </p:sp>
      <p:sp>
        <p:nvSpPr>
          <p:cNvPr id="39" name="Shape 37"/>
          <p:cNvSpPr/>
          <p:nvPr/>
        </p:nvSpPr>
        <p:spPr>
          <a:xfrm>
            <a:off x="365760" y="3895344"/>
            <a:ext cx="91440" cy="603504"/>
          </a:xfrm>
          <a:prstGeom prst="rect">
            <a:avLst/>
          </a:prstGeom>
          <a:solidFill>
            <a:srgbClr val="3B82F6"/>
          </a:solidFill>
          <a:ln/>
        </p:spPr>
      </p:sp>
      <p:sp>
        <p:nvSpPr>
          <p:cNvPr id="40" name="Shape 38"/>
          <p:cNvSpPr/>
          <p:nvPr/>
        </p:nvSpPr>
        <p:spPr>
          <a:xfrm>
            <a:off x="548640" y="4005072"/>
            <a:ext cx="365760" cy="365760"/>
          </a:xfrm>
          <a:prstGeom prst="ellipse">
            <a:avLst/>
          </a:prstGeom>
          <a:solidFill>
            <a:srgbClr val="3B82F6"/>
          </a:solidFill>
          <a:ln/>
        </p:spPr>
      </p:sp>
      <p:sp>
        <p:nvSpPr>
          <p:cNvPr id="41" name="Text 39"/>
          <p:cNvSpPr/>
          <p:nvPr/>
        </p:nvSpPr>
        <p:spPr>
          <a:xfrm>
            <a:off x="548640" y="400507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2" name="Shape 40"/>
          <p:cNvSpPr/>
          <p:nvPr/>
        </p:nvSpPr>
        <p:spPr>
          <a:xfrm>
            <a:off x="7772400" y="4069080"/>
            <a:ext cx="914400" cy="219456"/>
          </a:xfrm>
          <a:prstGeom prst="roundRect">
            <a:avLst>
              <a:gd name="adj" fmla="val 20833"/>
            </a:avLst>
          </a:prstGeom>
          <a:solidFill>
            <a:srgbClr val="3B82F6"/>
          </a:solidFill>
          <a:ln/>
        </p:spPr>
      </p:sp>
      <p:sp>
        <p:nvSpPr>
          <p:cNvPr id="43" name="Text 41"/>
          <p:cNvSpPr/>
          <p:nvPr/>
        </p:nvSpPr>
        <p:spPr>
          <a:xfrm>
            <a:off x="7772400" y="4069080"/>
            <a:ext cx="91440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44" name="Text 42"/>
          <p:cNvSpPr/>
          <p:nvPr/>
        </p:nvSpPr>
        <p:spPr>
          <a:xfrm>
            <a:off x="1051560" y="3950208"/>
            <a:ext cx="65836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Schedule Q2 2026 Readiness Review</a:t>
            </a:r>
            <a:endParaRPr lang="en-US" sz="1200" dirty="0"/>
          </a:p>
        </p:txBody>
      </p:sp>
      <p:sp>
        <p:nvSpPr>
          <p:cNvPr id="45" name="Text 43"/>
          <p:cNvSpPr/>
          <p:nvPr/>
        </p:nvSpPr>
        <p:spPr>
          <a:xfrm>
            <a:off x="1051560" y="4215384"/>
            <a:ext cx="658368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Schedule a formal Q2 readiness review to assess Enabler Story completion, JMS migration progress, and pipeline health.</a:t>
            </a:r>
            <a:endParaRPr lang="en-US" sz="1000" dirty="0"/>
          </a:p>
        </p:txBody>
      </p:sp>
      <p:sp>
        <p:nvSpPr>
          <p:cNvPr id="46" name="Shape 44"/>
          <p:cNvSpPr/>
          <p:nvPr/>
        </p:nvSpPr>
        <p:spPr>
          <a:xfrm>
            <a:off x="365760" y="4608576"/>
            <a:ext cx="8412480" cy="320040"/>
          </a:xfrm>
          <a:prstGeom prst="rect">
            <a:avLst/>
          </a:prstGeom>
          <a:solidFill>
            <a:srgbClr val="3B1A0A"/>
          </a:solidFill>
          <a:ln/>
        </p:spPr>
      </p:sp>
      <p:sp>
        <p:nvSpPr>
          <p:cNvPr id="47" name="Shape 45"/>
          <p:cNvSpPr/>
          <p:nvPr/>
        </p:nvSpPr>
        <p:spPr>
          <a:xfrm>
            <a:off x="365760" y="4608576"/>
            <a:ext cx="91440" cy="320040"/>
          </a:xfrm>
          <a:prstGeom prst="rect">
            <a:avLst/>
          </a:prstGeom>
          <a:solidFill>
            <a:srgbClr val="D97706"/>
          </a:solidFill>
          <a:ln/>
        </p:spPr>
      </p:sp>
      <p:sp>
        <p:nvSpPr>
          <p:cNvPr id="48" name="Text 46"/>
          <p:cNvSpPr/>
          <p:nvPr/>
        </p:nvSpPr>
        <p:spPr>
          <a:xfrm>
            <a:off x="530352" y="4608576"/>
            <a:ext cx="8229600" cy="320040"/>
          </a:xfrm>
          <a:prstGeom prst="rect">
            <a:avLst/>
          </a:prstGeom>
          <a:noFill/>
          <a:ln/>
        </p:spPr>
        <p:txBody>
          <a:bodyPr wrap="square" rtlCol="0" anchor="ctr"/>
          <a:lstStyle/>
          <a:p>
            <a:pPr indent="0" marL="0">
              <a:buNone/>
            </a:pPr>
            <a:r>
              <a:rPr lang="en-US" sz="1000" dirty="0">
                <a:solidFill>
                  <a:srgbClr val="D97706"/>
                </a:solidFill>
                <a:latin typeface="Calibri" pitchFamily="34" charset="0"/>
                <a:ea typeface="Calibri" pitchFamily="34" charset="-122"/>
                <a:cs typeface="Calibri" pitchFamily="34" charset="-120"/>
              </a:rPr>
              <a:t>⚠  Items 1 &amp; 2 are on the critical path and must be actioned immediately. Delays in JMS or Enabler Story prioritization cascade across Q2 and Q3/Q4 delivery timelines.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IT Modernization Roadmap</dc:title>
  <dc:subject>PptxGenJS Presentation</dc:subject>
  <dc:creator>PptxGenJS</dc:creator>
  <cp:lastModifiedBy>PptxGenJS</cp:lastModifiedBy>
  <cp:revision>1</cp:revision>
  <dcterms:created xsi:type="dcterms:W3CDTF">2026-04-09T03:11:03Z</dcterms:created>
  <dcterms:modified xsi:type="dcterms:W3CDTF">2026-04-09T03:11:03Z</dcterms:modified>
</cp:coreProperties>
</file>